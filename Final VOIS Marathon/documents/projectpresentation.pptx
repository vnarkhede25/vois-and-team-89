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  <p:sldMasterId id="2147483664" r:id="rId2"/>
    <p:sldMasterId id="2147483671" r:id="rId3"/>
  </p:sldMasterIdLst>
  <p:notesMasterIdLst>
    <p:notesMasterId r:id="rId26"/>
  </p:notesMasterIdLst>
  <p:sldIdLst>
    <p:sldId id="284" r:id="rId4"/>
    <p:sldId id="263" r:id="rId5"/>
    <p:sldId id="282" r:id="rId6"/>
    <p:sldId id="259" r:id="rId7"/>
    <p:sldId id="290" r:id="rId8"/>
    <p:sldId id="260" r:id="rId9"/>
    <p:sldId id="278" r:id="rId10"/>
    <p:sldId id="281" r:id="rId11"/>
    <p:sldId id="262" r:id="rId12"/>
    <p:sldId id="279" r:id="rId13"/>
    <p:sldId id="289" r:id="rId14"/>
    <p:sldId id="291" r:id="rId15"/>
    <p:sldId id="292" r:id="rId16"/>
    <p:sldId id="293" r:id="rId17"/>
    <p:sldId id="294" r:id="rId18"/>
    <p:sldId id="295" r:id="rId19"/>
    <p:sldId id="296" r:id="rId20"/>
    <p:sldId id="285" r:id="rId21"/>
    <p:sldId id="277" r:id="rId22"/>
    <p:sldId id="280" r:id="rId23"/>
    <p:sldId id="288" r:id="rId24"/>
    <p:sldId id="276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3" orient="horz" pos="792" userDrawn="1">
          <p15:clr>
            <a:srgbClr val="A4A3A4"/>
          </p15:clr>
        </p15:guide>
        <p15:guide id="4" pos="288" userDrawn="1">
          <p15:clr>
            <a:srgbClr val="A4A3A4"/>
          </p15:clr>
        </p15:guide>
        <p15:guide id="5" orient="horz" pos="600" userDrawn="1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8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17F"/>
    <a:srgbClr val="A20000"/>
    <a:srgbClr val="E60000"/>
    <a:srgbClr val="FFF7F7"/>
    <a:srgbClr val="FFEFEF"/>
    <a:srgbClr val="FFC7C7"/>
    <a:srgbClr val="FF0000"/>
    <a:srgbClr val="F2B300"/>
    <a:srgbClr val="45CDD7"/>
    <a:srgbClr val="FFB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8"/>
      </p:cViewPr>
      <p:guideLst>
        <p:guide orient="horz" pos="792"/>
        <p:guide pos="288"/>
        <p:guide orient="horz" pos="6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customschemas.google.com/relationships/presentationmetadata" Target="meta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 N" userId="a4689594d1f9100c" providerId="LiveId" clId="{C320E0DA-C45A-4E30-B070-2965C79F9EF9}"/>
    <pc:docChg chg="undo custSel delSld modSld">
      <pc:chgData name="Tanvi N" userId="a4689594d1f9100c" providerId="LiveId" clId="{C320E0DA-C45A-4E30-B070-2965C79F9EF9}" dt="2026-02-10T09:12:34.971" v="94" actId="478"/>
      <pc:docMkLst>
        <pc:docMk/>
      </pc:docMkLst>
      <pc:sldChg chg="modSp mod">
        <pc:chgData name="Tanvi N" userId="a4689594d1f9100c" providerId="LiveId" clId="{C320E0DA-C45A-4E30-B070-2965C79F9EF9}" dt="2026-02-09T03:32:58.548" v="91" actId="20577"/>
        <pc:sldMkLst>
          <pc:docMk/>
          <pc:sldMk cId="3009133394" sldId="263"/>
        </pc:sldMkLst>
        <pc:spChg chg="mod">
          <ac:chgData name="Tanvi N" userId="a4689594d1f9100c" providerId="LiveId" clId="{C320E0DA-C45A-4E30-B070-2965C79F9EF9}" dt="2026-02-09T03:32:58.548" v="91" actId="20577"/>
          <ac:spMkLst>
            <pc:docMk/>
            <pc:sldMk cId="3009133394" sldId="263"/>
            <ac:spMk id="2" creationId="{A9F0C642-43AC-4A20-252B-6E329095AC9B}"/>
          </ac:spMkLst>
        </pc:spChg>
      </pc:sldChg>
      <pc:sldChg chg="del">
        <pc:chgData name="Tanvi N" userId="a4689594d1f9100c" providerId="LiveId" clId="{C320E0DA-C45A-4E30-B070-2965C79F9EF9}" dt="2026-02-10T09:12:15.462" v="92" actId="2696"/>
        <pc:sldMkLst>
          <pc:docMk/>
          <pc:sldMk cId="0" sldId="264"/>
        </pc:sldMkLst>
      </pc:sldChg>
      <pc:sldChg chg="delSp mod">
        <pc:chgData name="Tanvi N" userId="a4689594d1f9100c" providerId="LiveId" clId="{C320E0DA-C45A-4E30-B070-2965C79F9EF9}" dt="2026-02-10T09:12:34.971" v="94" actId="478"/>
        <pc:sldMkLst>
          <pc:docMk/>
          <pc:sldMk cId="2115484872" sldId="277"/>
        </pc:sldMkLst>
        <pc:spChg chg="del">
          <ac:chgData name="Tanvi N" userId="a4689594d1f9100c" providerId="LiveId" clId="{C320E0DA-C45A-4E30-B070-2965C79F9EF9}" dt="2026-02-10T09:12:29.743" v="93" actId="478"/>
          <ac:spMkLst>
            <pc:docMk/>
            <pc:sldMk cId="2115484872" sldId="277"/>
            <ac:spMk id="8" creationId="{463B5C6B-D06C-E604-5B14-79748B2B94E4}"/>
          </ac:spMkLst>
        </pc:spChg>
        <pc:grpChg chg="del">
          <ac:chgData name="Tanvi N" userId="a4689594d1f9100c" providerId="LiveId" clId="{C320E0DA-C45A-4E30-B070-2965C79F9EF9}" dt="2026-02-10T09:12:34.971" v="94" actId="478"/>
          <ac:grpSpMkLst>
            <pc:docMk/>
            <pc:sldMk cId="2115484872" sldId="277"/>
            <ac:grpSpMk id="10" creationId="{FFB7DC98-5EB4-00A1-561D-C73A5BCABE82}"/>
          </ac:grpSpMkLst>
        </pc:grpChg>
      </pc:sldChg>
      <pc:sldChg chg="modSp mod">
        <pc:chgData name="Tanvi N" userId="a4689594d1f9100c" providerId="LiveId" clId="{C320E0DA-C45A-4E30-B070-2965C79F9EF9}" dt="2026-02-09T03:26:26.268" v="90" actId="20577"/>
        <pc:sldMkLst>
          <pc:docMk/>
          <pc:sldMk cId="1635342371" sldId="285"/>
        </pc:sldMkLst>
        <pc:spChg chg="mod">
          <ac:chgData name="Tanvi N" userId="a4689594d1f9100c" providerId="LiveId" clId="{C320E0DA-C45A-4E30-B070-2965C79F9EF9}" dt="2026-02-09T03:26:26.268" v="90" actId="20577"/>
          <ac:spMkLst>
            <pc:docMk/>
            <pc:sldMk cId="1635342371" sldId="285"/>
            <ac:spMk id="57" creationId="{0AB801A3-092E-AA3C-1325-8D3A29F9A2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D56D297-AAEA-3A7B-8DD8-63F90FEA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F2C60221-833B-03A6-9A85-155C1C1A8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91CD7D18-30BF-66B9-16FE-3E743CE87C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67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151880CA-7D91-EB2D-F062-3417EA50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F844D651-0E22-11B7-3E49-93D0C466D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B572D276-D162-44D3-1311-94BF994A7F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91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F43CDD6-4336-1DF1-F99F-2B07D4C0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BDEE244C-5170-C17A-F5CF-6B51761A2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4FAD918F-EAB3-8C07-48A6-066767217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75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029B0027-1B98-29FE-70CF-87610118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7FF0500-4B12-51B7-B1F4-D0EFF436E2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2EDC9BA6-0D93-BC05-6D39-99C322DD5B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900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67E7B950-5356-8528-236C-1BC160AF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07103D31-14FA-3C84-CD88-C9A3B50493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989A1966-7BDA-C6B9-272B-0DDCE5759A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76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263E37-6DB3-7203-4570-9D93A4911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E1A55D29-366C-F722-F1A2-EDACA7C229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529CBF84-73CC-BBB3-AEA0-B68474E1D6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9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482DD63E-83B3-0229-E858-68B9B3C98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EDD17261-C8FD-6BB5-14A0-C1ABE91B81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2F62BEBE-6AB9-F76C-3445-80E76BF908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9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8D02F2B7-2D04-127D-87AF-7935AB446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9B8F5430-366A-124D-78A6-FD7068C16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8BF58CCB-1D55-EF31-F7F9-18EB243AB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594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858C15A-21E5-D0B4-5C72-89C04CF61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0249CF2E-B3CE-50FC-0E58-1811FDF49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6B717691-3C24-0380-C63D-D036EE324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35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929A6DC-B367-28E0-7428-54B20F03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D26A00-5187-365A-A052-1494FDEB8D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734AEEA7-AB52-2AAE-822D-5AA44837B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657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2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47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099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6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16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62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725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22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85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28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62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68DB97-BE7C-D925-30FD-9C50B3816BC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77440" y="428"/>
            <a:ext cx="12346881" cy="694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7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AC8B568-3D3C-3E86-5500-B520D98306F0}"/>
              </a:ext>
            </a:extLst>
          </p:cNvPr>
          <p:cNvGrpSpPr/>
          <p:nvPr userDrawn="1"/>
        </p:nvGrpSpPr>
        <p:grpSpPr>
          <a:xfrm>
            <a:off x="0" y="6651168"/>
            <a:ext cx="12670971" cy="435429"/>
            <a:chOff x="0" y="6651168"/>
            <a:chExt cx="12670971" cy="435429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D5555CE-25B3-CABF-D580-C0F88491BEFE}"/>
                </a:ext>
              </a:extLst>
            </p:cNvPr>
            <p:cNvSpPr/>
            <p:nvPr userDrawn="1"/>
          </p:nvSpPr>
          <p:spPr>
            <a:xfrm flipH="1" flipV="1">
              <a:off x="5519057" y="6651712"/>
              <a:ext cx="7151914" cy="434885"/>
            </a:xfrm>
            <a:custGeom>
              <a:avLst/>
              <a:gdLst/>
              <a:ahLst/>
              <a:cxnLst/>
              <a:rect l="l" t="t" r="r" b="b"/>
              <a:pathLst>
                <a:path w="7315200" h="1024128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284" t="-135494" r="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572DB9-8AEB-605A-8F56-BC9A0CE87D27}"/>
                </a:ext>
              </a:extLst>
            </p:cNvPr>
            <p:cNvSpPr/>
            <p:nvPr userDrawn="1"/>
          </p:nvSpPr>
          <p:spPr>
            <a:xfrm>
              <a:off x="0" y="6651168"/>
              <a:ext cx="5627915" cy="402771"/>
            </a:xfrm>
            <a:prstGeom prst="rect">
              <a:avLst/>
            </a:prstGeom>
            <a:solidFill>
              <a:srgbClr val="5B00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17CC75-0266-7826-42A2-A3B90927FA5D}"/>
              </a:ext>
            </a:extLst>
          </p:cNvPr>
          <p:cNvGrpSpPr/>
          <p:nvPr userDrawn="1"/>
        </p:nvGrpSpPr>
        <p:grpSpPr>
          <a:xfrm>
            <a:off x="-622201" y="-10886"/>
            <a:ext cx="12901287" cy="404184"/>
            <a:chOff x="-622201" y="-10886"/>
            <a:chExt cx="12901287" cy="404184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F4394B1-42DA-2076-40EA-F5DB6481935B}"/>
                </a:ext>
              </a:extLst>
            </p:cNvPr>
            <p:cNvSpPr/>
            <p:nvPr userDrawn="1"/>
          </p:nvSpPr>
          <p:spPr>
            <a:xfrm>
              <a:off x="-622201" y="-1"/>
              <a:ext cx="7315200" cy="393299"/>
            </a:xfrm>
            <a:custGeom>
              <a:avLst/>
              <a:gdLst/>
              <a:ahLst/>
              <a:cxnLst/>
              <a:rect l="l" t="t" r="r" b="b"/>
              <a:pathLst>
                <a:path w="7315200" h="1024128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1603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5157E1-0A45-B6AC-0EBB-7A01A63B633F}"/>
                </a:ext>
              </a:extLst>
            </p:cNvPr>
            <p:cNvSpPr/>
            <p:nvPr userDrawn="1"/>
          </p:nvSpPr>
          <p:spPr>
            <a:xfrm>
              <a:off x="6651171" y="-10886"/>
              <a:ext cx="5627915" cy="402771"/>
            </a:xfrm>
            <a:prstGeom prst="rect">
              <a:avLst/>
            </a:prstGeom>
            <a:solidFill>
              <a:srgbClr val="5B00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698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1" r:id="rId2"/>
    <p:sldLayoutId id="214748368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jp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ujagithub2006/VOIS-and-Team-89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23A3F-BF7F-A63E-DFF9-0FA766AE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9C9EC1E8-50F0-594B-D72F-7FE53C0D5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157C48A1-958B-BDC8-8917-A1E7E9F32B25}"/>
              </a:ext>
            </a:extLst>
          </p:cNvPr>
          <p:cNvSpPr/>
          <p:nvPr/>
        </p:nvSpPr>
        <p:spPr>
          <a:xfrm>
            <a:off x="2705101" y="38101"/>
            <a:ext cx="6781799" cy="6781799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729495-97AF-FD52-3AB0-5D2450DBA74B}"/>
              </a:ext>
            </a:extLst>
          </p:cNvPr>
          <p:cNvSpPr txBox="1">
            <a:spLocks/>
          </p:cNvSpPr>
          <p:nvPr/>
        </p:nvSpPr>
        <p:spPr>
          <a:xfrm>
            <a:off x="2362200" y="1905341"/>
            <a:ext cx="7467600" cy="243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6600" b="1">
                <a:solidFill>
                  <a:schemeClr val="bg1"/>
                </a:solidFill>
                <a:latin typeface="Vodafone Rg" panose="020B0606080202020204" pitchFamily="34" charset="0"/>
                <a:cs typeface="Calibri" panose="020F0502020204030204" pitchFamily="34" charset="0"/>
              </a:rPr>
              <a:t>VOIS Innovation </a:t>
            </a:r>
          </a:p>
          <a:p>
            <a:pPr algn="ctr"/>
            <a:r>
              <a:rPr lang="en-US" sz="6600" b="1">
                <a:solidFill>
                  <a:schemeClr val="bg1"/>
                </a:solidFill>
                <a:latin typeface="Vodafone Rg" panose="020B0606080202020204" pitchFamily="34" charset="0"/>
                <a:cs typeface="Calibri" panose="020F0502020204030204" pitchFamily="34" charset="0"/>
              </a:rPr>
              <a:t>Marathon 2.0 </a:t>
            </a:r>
            <a:endParaRPr lang="en-IN">
              <a:solidFill>
                <a:schemeClr val="bg1"/>
              </a:solidFill>
              <a:latin typeface="Vodafone Rg" panose="020B060608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3901539B-3E4F-88C2-6ABE-7F68AE084607}"/>
              </a:ext>
            </a:extLst>
          </p:cNvPr>
          <p:cNvSpPr/>
          <p:nvPr/>
        </p:nvSpPr>
        <p:spPr>
          <a:xfrm>
            <a:off x="292748" y="197497"/>
            <a:ext cx="1753766" cy="574358"/>
          </a:xfrm>
          <a:custGeom>
            <a:avLst/>
            <a:gdLst/>
            <a:ahLst/>
            <a:cxnLst/>
            <a:rect l="l" t="t" r="r" b="b"/>
            <a:pathLst>
              <a:path w="2720172" h="890856">
                <a:moveTo>
                  <a:pt x="0" y="0"/>
                </a:moveTo>
                <a:lnTo>
                  <a:pt x="2720172" y="0"/>
                </a:lnTo>
                <a:lnTo>
                  <a:pt x="2720172" y="890856"/>
                </a:lnTo>
                <a:lnTo>
                  <a:pt x="0" y="890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29E9B9AF-6FE0-E406-C2CD-90613301085C}"/>
              </a:ext>
            </a:extLst>
          </p:cNvPr>
          <p:cNvSpPr/>
          <p:nvPr/>
        </p:nvSpPr>
        <p:spPr>
          <a:xfrm flipH="1">
            <a:off x="10122548" y="6032241"/>
            <a:ext cx="1753766" cy="574358"/>
          </a:xfrm>
          <a:custGeom>
            <a:avLst/>
            <a:gdLst/>
            <a:ahLst/>
            <a:cxnLst/>
            <a:rect l="l" t="t" r="r" b="b"/>
            <a:pathLst>
              <a:path w="2720172" h="890856">
                <a:moveTo>
                  <a:pt x="0" y="0"/>
                </a:moveTo>
                <a:lnTo>
                  <a:pt x="2720172" y="0"/>
                </a:lnTo>
                <a:lnTo>
                  <a:pt x="2720172" y="890856"/>
                </a:lnTo>
                <a:lnTo>
                  <a:pt x="0" y="890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1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21C18-6BF5-B97D-EE64-7FCF0E49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C642-43AC-4A20-252B-6E329095AC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7744" y="630239"/>
            <a:ext cx="5661025" cy="1578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3000" b="1" dirty="0">
                <a:solidFill>
                  <a:srgbClr val="A20000"/>
                </a:solidFill>
                <a:latin typeface="Vodafone Rg" panose="020B0606080202020204" pitchFamily="34" charset="0"/>
              </a:rPr>
              <a:t>Project Title:- </a:t>
            </a:r>
            <a:r>
              <a:rPr lang="en-US" sz="2800" b="1" dirty="0">
                <a:solidFill>
                  <a:srgbClr val="A20000"/>
                </a:solidFill>
                <a:latin typeface="Vodafone Rg" panose="020B0606080202020204" pitchFamily="34" charset="0"/>
              </a:rPr>
              <a:t>SilverCare: Proactive AI platform for Elderly Assistance, Health Monitoring &amp; Caregiver Support</a:t>
            </a:r>
            <a:endParaRPr lang="en-US" sz="3000" b="1" dirty="0">
              <a:solidFill>
                <a:srgbClr val="A20000"/>
              </a:solidFill>
              <a:latin typeface="Vodafone Rg" panose="020B060608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CCB1A2-324D-F7D1-2DFF-C45E68B6E542}"/>
              </a:ext>
            </a:extLst>
          </p:cNvPr>
          <p:cNvGrpSpPr/>
          <p:nvPr/>
        </p:nvGrpSpPr>
        <p:grpSpPr>
          <a:xfrm>
            <a:off x="1307097" y="2884713"/>
            <a:ext cx="3995057" cy="544287"/>
            <a:chOff x="1273629" y="1436913"/>
            <a:chExt cx="3995057" cy="54428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C5427B-5584-42AA-BCBF-190F3341B904}"/>
                </a:ext>
              </a:extLst>
            </p:cNvPr>
            <p:cNvSpPr/>
            <p:nvPr/>
          </p:nvSpPr>
          <p:spPr>
            <a:xfrm>
              <a:off x="1273629" y="1436913"/>
              <a:ext cx="3995057" cy="544287"/>
            </a:xfrm>
            <a:prstGeom prst="roundRect">
              <a:avLst/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26BBA8-58B8-3AFD-F121-AED51A095207}"/>
                </a:ext>
              </a:extLst>
            </p:cNvPr>
            <p:cNvSpPr txBox="1"/>
            <p:nvPr/>
          </p:nvSpPr>
          <p:spPr>
            <a:xfrm>
              <a:off x="1790700" y="1539779"/>
              <a:ext cx="29609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Team No. 89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B53CC7B-51F3-AF5B-5DAC-EE3E535ABF34}"/>
              </a:ext>
            </a:extLst>
          </p:cNvPr>
          <p:cNvGrpSpPr/>
          <p:nvPr/>
        </p:nvGrpSpPr>
        <p:grpSpPr>
          <a:xfrm>
            <a:off x="1268186" y="5520982"/>
            <a:ext cx="3995057" cy="584775"/>
            <a:chOff x="1273629" y="1422510"/>
            <a:chExt cx="3995057" cy="584775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2B059A2-5AB7-4E51-27BD-E7AB5C0CA496}"/>
                </a:ext>
              </a:extLst>
            </p:cNvPr>
            <p:cNvSpPr/>
            <p:nvPr/>
          </p:nvSpPr>
          <p:spPr>
            <a:xfrm>
              <a:off x="1273629" y="1436913"/>
              <a:ext cx="3995057" cy="544287"/>
            </a:xfrm>
            <a:prstGeom prst="roundRect">
              <a:avLst/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1524BB-4EBD-652C-8DAB-09CCCEED5D51}"/>
                </a:ext>
              </a:extLst>
            </p:cNvPr>
            <p:cNvSpPr txBox="1"/>
            <p:nvPr/>
          </p:nvSpPr>
          <p:spPr>
            <a:xfrm>
              <a:off x="1743722" y="1422510"/>
              <a:ext cx="34236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Vishwakarma Institute of Technology, Pune, Maharashtra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434349-E673-42C2-FF03-FB2D2796AC1A}"/>
              </a:ext>
            </a:extLst>
          </p:cNvPr>
          <p:cNvGrpSpPr/>
          <p:nvPr/>
        </p:nvGrpSpPr>
        <p:grpSpPr>
          <a:xfrm>
            <a:off x="7431933" y="2771824"/>
            <a:ext cx="3112851" cy="584775"/>
            <a:chOff x="7500026" y="2392446"/>
            <a:chExt cx="3112851" cy="584775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2D94EAD-4CE1-0423-E85F-A37A9C832D6F}"/>
                </a:ext>
              </a:extLst>
            </p:cNvPr>
            <p:cNvSpPr/>
            <p:nvPr/>
          </p:nvSpPr>
          <p:spPr>
            <a:xfrm>
              <a:off x="7500026" y="2441643"/>
              <a:ext cx="3112851" cy="486383"/>
            </a:xfrm>
            <a:prstGeom prst="roundRect">
              <a:avLst>
                <a:gd name="adj" fmla="val 11836"/>
              </a:avLst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780AD8-94E6-C0DF-B4F9-D2AD72EC8C4F}"/>
                </a:ext>
              </a:extLst>
            </p:cNvPr>
            <p:cNvSpPr txBox="1"/>
            <p:nvPr/>
          </p:nvSpPr>
          <p:spPr>
            <a:xfrm>
              <a:off x="7691624" y="2392446"/>
              <a:ext cx="27443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Puja Nikam, Computer Engineering</a:t>
              </a:r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61E9DB2-5CD7-D546-D014-634E42A4AE1E}"/>
              </a:ext>
            </a:extLst>
          </p:cNvPr>
          <p:cNvSpPr/>
          <p:nvPr/>
        </p:nvSpPr>
        <p:spPr>
          <a:xfrm>
            <a:off x="7078145" y="3732411"/>
            <a:ext cx="1774372" cy="1774372"/>
          </a:xfrm>
          <a:prstGeom prst="roundRect">
            <a:avLst>
              <a:gd name="adj" fmla="val 8078"/>
            </a:avLst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Insert your professional photo</a:t>
            </a:r>
            <a:endParaRPr lang="en-IN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EE73ADA-1A54-DFB3-02B3-2903F3C229A1}"/>
              </a:ext>
            </a:extLst>
          </p:cNvPr>
          <p:cNvGrpSpPr/>
          <p:nvPr/>
        </p:nvGrpSpPr>
        <p:grpSpPr>
          <a:xfrm>
            <a:off x="7030068" y="5535385"/>
            <a:ext cx="1774372" cy="1106170"/>
            <a:chOff x="7156528" y="4909457"/>
            <a:chExt cx="1774372" cy="110617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9AC5669-EFCD-F6C2-F878-2812D968D7C1}"/>
                </a:ext>
              </a:extLst>
            </p:cNvPr>
            <p:cNvSpPr/>
            <p:nvPr/>
          </p:nvSpPr>
          <p:spPr>
            <a:xfrm>
              <a:off x="7295744" y="4938409"/>
              <a:ext cx="1605063" cy="1077218"/>
            </a:xfrm>
            <a:prstGeom prst="roundRect">
              <a:avLst>
                <a:gd name="adj" fmla="val 11836"/>
              </a:avLst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3CBB397-5042-E6EC-C8B7-72C2D67E6F17}"/>
                </a:ext>
              </a:extLst>
            </p:cNvPr>
            <p:cNvSpPr txBox="1"/>
            <p:nvPr/>
          </p:nvSpPr>
          <p:spPr>
            <a:xfrm>
              <a:off x="7156528" y="4909457"/>
              <a:ext cx="1774372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Tanvi Nanaware, Computer Engineering</a:t>
              </a: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372592E-20CD-EA88-F73F-293563117D02}"/>
              </a:ext>
            </a:extLst>
          </p:cNvPr>
          <p:cNvSpPr/>
          <p:nvPr/>
        </p:nvSpPr>
        <p:spPr>
          <a:xfrm>
            <a:off x="9247251" y="3732411"/>
            <a:ext cx="1774372" cy="1774372"/>
          </a:xfrm>
          <a:prstGeom prst="roundRect">
            <a:avLst>
              <a:gd name="adj" fmla="val 8078"/>
            </a:avLst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9A0ED5C-4294-9DED-35D1-ADB332624E97}"/>
              </a:ext>
            </a:extLst>
          </p:cNvPr>
          <p:cNvGrpSpPr/>
          <p:nvPr/>
        </p:nvGrpSpPr>
        <p:grpSpPr>
          <a:xfrm>
            <a:off x="9374220" y="5564337"/>
            <a:ext cx="1647403" cy="1077218"/>
            <a:chOff x="7295744" y="4938409"/>
            <a:chExt cx="1647403" cy="1077218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8ACFAE00-7A83-9B8F-12D5-4B2385335898}"/>
                </a:ext>
              </a:extLst>
            </p:cNvPr>
            <p:cNvSpPr/>
            <p:nvPr/>
          </p:nvSpPr>
          <p:spPr>
            <a:xfrm>
              <a:off x="7295744" y="4938409"/>
              <a:ext cx="1647403" cy="1048266"/>
            </a:xfrm>
            <a:prstGeom prst="roundRect">
              <a:avLst>
                <a:gd name="adj" fmla="val 11836"/>
              </a:avLst>
            </a:prstGeom>
            <a:solidFill>
              <a:srgbClr val="F5CB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7DF3CD4-B7BA-8258-4634-2E9E4FBA076D}"/>
                </a:ext>
              </a:extLst>
            </p:cNvPr>
            <p:cNvSpPr txBox="1"/>
            <p:nvPr/>
          </p:nvSpPr>
          <p:spPr>
            <a:xfrm>
              <a:off x="7295744" y="4938409"/>
              <a:ext cx="164740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Vaishnavi Narkhede, Computer Engineering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EB570D-D8AD-50CF-8C3D-5D2236587FF1}"/>
              </a:ext>
            </a:extLst>
          </p:cNvPr>
          <p:cNvSpPr/>
          <p:nvPr/>
        </p:nvSpPr>
        <p:spPr>
          <a:xfrm>
            <a:off x="8108455" y="823932"/>
            <a:ext cx="1774372" cy="1774372"/>
          </a:xfrm>
          <a:prstGeom prst="roundRect">
            <a:avLst>
              <a:gd name="adj" fmla="val 8078"/>
            </a:avLst>
          </a:prstGeom>
          <a:solidFill>
            <a:schemeClr val="bg1"/>
          </a:solidFill>
          <a:ln>
            <a:solidFill>
              <a:srgbClr val="E6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Vishwakarma Institute Of Technology | Pune">
            <a:extLst>
              <a:ext uri="{FF2B5EF4-FFF2-40B4-BE49-F238E27FC236}">
                <a16:creationId xmlns:a16="http://schemas.microsoft.com/office/drawing/2014/main" id="{0A263BB8-67A1-4E5E-472C-A53A197DE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630" y="3560528"/>
            <a:ext cx="1871990" cy="1871990"/>
          </a:xfrm>
          <a:prstGeom prst="rect">
            <a:avLst/>
          </a:prstGeom>
          <a:noFill/>
          <a:ln w="127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A0E4EA-9993-6DDB-2FF6-C1A51B10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74"/>
          <a:stretch>
            <a:fillRect/>
          </a:stretch>
        </p:blipFill>
        <p:spPr>
          <a:xfrm>
            <a:off x="7234952" y="3830486"/>
            <a:ext cx="1403846" cy="16289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EBFDD3-6236-3886-27DF-919A99596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943" y="916355"/>
            <a:ext cx="1626830" cy="16268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CC5E598-37D6-4AC9-F2B2-24C09D4E6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4220" y="3781606"/>
            <a:ext cx="1583443" cy="167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3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359227" y="1540329"/>
            <a:ext cx="9470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The Challenge: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With the increasing elderly population, many senior citizens live alone without continuous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supervision, leading to safety risks such as: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609697-D49F-A4FB-049E-97EE321D4CA6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017025-B523-83DA-BCFE-644BFFFD528D}"/>
              </a:ext>
            </a:extLst>
          </p:cNvPr>
          <p:cNvSpPr txBox="1"/>
          <p:nvPr/>
        </p:nvSpPr>
        <p:spPr>
          <a:xfrm>
            <a:off x="1643742" y="3725977"/>
            <a:ext cx="9470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Unnoticed Instability &amp; Prolonged Inactivity –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gradual imbalance and abnormal movements go unnoticed also, early warning signs of health issues are missed.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F36E5-1055-FA30-0468-B0E96C8FC3D0}"/>
              </a:ext>
            </a:extLst>
          </p:cNvPr>
          <p:cNvSpPr txBox="1"/>
          <p:nvPr/>
        </p:nvSpPr>
        <p:spPr>
          <a:xfrm>
            <a:off x="1643742" y="4582888"/>
            <a:ext cx="9263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Medication Non-Adherence –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elderly individuals often forget to take medicines on time, leading to missed doses.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972993-7927-2102-F673-1902A50A3E4B}"/>
              </a:ext>
            </a:extLst>
          </p:cNvPr>
          <p:cNvSpPr txBox="1"/>
          <p:nvPr/>
        </p:nvSpPr>
        <p:spPr>
          <a:xfrm>
            <a:off x="1643742" y="3004457"/>
            <a:ext cx="9176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Delayed Assistance–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senior citizens are unable to seek immediate help.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29C56B-7278-527E-C2EB-E4906C82EE30}"/>
              </a:ext>
            </a:extLst>
          </p:cNvPr>
          <p:cNvSpPr txBox="1"/>
          <p:nvPr/>
        </p:nvSpPr>
        <p:spPr>
          <a:xfrm>
            <a:off x="1643742" y="2220688"/>
            <a:ext cx="73696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Frequent Falls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- leading cause of serious health complications.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449C8-F714-9EFB-B0B7-CACF73BAFA7A}"/>
              </a:ext>
            </a:extLst>
          </p:cNvPr>
          <p:cNvSpPr txBox="1"/>
          <p:nvPr/>
        </p:nvSpPr>
        <p:spPr>
          <a:xfrm>
            <a:off x="370114" y="5377541"/>
            <a:ext cx="1043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an intelligent and reliable monitoring solution, senior citizens remain vulnerable to preventable injuries and delayed medical intervention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7C0354-3D84-8987-C5E7-4FF4BBB144DF}"/>
              </a:ext>
            </a:extLst>
          </p:cNvPr>
          <p:cNvSpPr txBox="1"/>
          <p:nvPr/>
        </p:nvSpPr>
        <p:spPr>
          <a:xfrm>
            <a:off x="370114" y="1053997"/>
            <a:ext cx="8399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SilverCare -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Automated, Intelligent, and Wearable Monitoring System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E6B5146-C950-46CD-4F6D-48EC6ED3349B}"/>
              </a:ext>
            </a:extLst>
          </p:cNvPr>
          <p:cNvGrpSpPr/>
          <p:nvPr/>
        </p:nvGrpSpPr>
        <p:grpSpPr>
          <a:xfrm>
            <a:off x="740228" y="3508836"/>
            <a:ext cx="843190" cy="936171"/>
            <a:chOff x="740228" y="3508836"/>
            <a:chExt cx="843190" cy="93617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7F73E85-72FC-7714-0A8A-5686C51BFFB1}"/>
                </a:ext>
              </a:extLst>
            </p:cNvPr>
            <p:cNvSpPr/>
            <p:nvPr/>
          </p:nvSpPr>
          <p:spPr>
            <a:xfrm rot="5400000">
              <a:off x="693737" y="3555327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2">
              <a:extLst>
                <a:ext uri="{FF2B5EF4-FFF2-40B4-BE49-F238E27FC236}">
                  <a16:creationId xmlns:a16="http://schemas.microsoft.com/office/drawing/2014/main" id="{CE1F2B68-89AA-81EB-5334-9F856329FDF4}"/>
                </a:ext>
              </a:extLst>
            </p:cNvPr>
            <p:cNvSpPr/>
            <p:nvPr/>
          </p:nvSpPr>
          <p:spPr>
            <a:xfrm>
              <a:off x="1041765" y="3798877"/>
              <a:ext cx="352696" cy="352696"/>
            </a:xfrm>
            <a:custGeom>
              <a:avLst/>
              <a:gdLst/>
              <a:ahLst/>
              <a:cxnLst/>
              <a:rect l="l" t="t" r="r" b="b"/>
              <a:pathLst>
                <a:path w="2567875" h="2567875">
                  <a:moveTo>
                    <a:pt x="0" y="0"/>
                  </a:moveTo>
                  <a:lnTo>
                    <a:pt x="2567875" y="0"/>
                  </a:lnTo>
                  <a:lnTo>
                    <a:pt x="2567875" y="2567875"/>
                  </a:lnTo>
                  <a:lnTo>
                    <a:pt x="0" y="2567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B88D327-54AF-A49C-996C-BC0B60A2F7D2}"/>
              </a:ext>
            </a:extLst>
          </p:cNvPr>
          <p:cNvGrpSpPr/>
          <p:nvPr/>
        </p:nvGrpSpPr>
        <p:grpSpPr>
          <a:xfrm>
            <a:off x="740228" y="4310752"/>
            <a:ext cx="843190" cy="936171"/>
            <a:chOff x="740228" y="4310752"/>
            <a:chExt cx="843190" cy="93617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CE4B3C3-E5F6-2873-3224-EAC500DB9AC7}"/>
                </a:ext>
              </a:extLst>
            </p:cNvPr>
            <p:cNvSpPr/>
            <p:nvPr/>
          </p:nvSpPr>
          <p:spPr>
            <a:xfrm rot="5400000">
              <a:off x="693737" y="4357243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3632A85D-3531-ACFF-12FA-D91331991648}"/>
                </a:ext>
              </a:extLst>
            </p:cNvPr>
            <p:cNvSpPr/>
            <p:nvPr/>
          </p:nvSpPr>
          <p:spPr>
            <a:xfrm>
              <a:off x="1051560" y="4628748"/>
              <a:ext cx="328339" cy="327518"/>
            </a:xfrm>
            <a:custGeom>
              <a:avLst/>
              <a:gdLst/>
              <a:ahLst/>
              <a:cxnLst/>
              <a:rect l="l" t="t" r="r" b="b"/>
              <a:pathLst>
                <a:path w="4125113" h="4114800">
                  <a:moveTo>
                    <a:pt x="0" y="0"/>
                  </a:moveTo>
                  <a:lnTo>
                    <a:pt x="4125113" y="0"/>
                  </a:lnTo>
                  <a:lnTo>
                    <a:pt x="4125113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7E66AD4-4CF7-6B02-DA1A-EA6489C6B5B5}"/>
              </a:ext>
            </a:extLst>
          </p:cNvPr>
          <p:cNvGrpSpPr/>
          <p:nvPr/>
        </p:nvGrpSpPr>
        <p:grpSpPr>
          <a:xfrm>
            <a:off x="740228" y="1905004"/>
            <a:ext cx="843190" cy="936171"/>
            <a:chOff x="740228" y="1905004"/>
            <a:chExt cx="843190" cy="936171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4C886E7-C875-7DB2-823D-B7158CC754F6}"/>
                </a:ext>
              </a:extLst>
            </p:cNvPr>
            <p:cNvSpPr/>
            <p:nvPr/>
          </p:nvSpPr>
          <p:spPr>
            <a:xfrm rot="5400000">
              <a:off x="693737" y="1951495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5DB734B9-CD6B-3328-8467-EECC31BA400A}"/>
                </a:ext>
              </a:extLst>
            </p:cNvPr>
            <p:cNvSpPr/>
            <p:nvPr/>
          </p:nvSpPr>
          <p:spPr>
            <a:xfrm>
              <a:off x="1039771" y="2211326"/>
              <a:ext cx="339449" cy="335206"/>
            </a:xfrm>
            <a:custGeom>
              <a:avLst/>
              <a:gdLst/>
              <a:ahLst/>
              <a:cxnLst/>
              <a:rect l="l" t="t" r="r" b="b"/>
              <a:pathLst>
                <a:path w="4166886" h="4114800">
                  <a:moveTo>
                    <a:pt x="0" y="0"/>
                  </a:moveTo>
                  <a:lnTo>
                    <a:pt x="4166886" y="0"/>
                  </a:lnTo>
                  <a:lnTo>
                    <a:pt x="4166886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0F44C5D-C025-645A-77AD-D1C756AF83E1}"/>
              </a:ext>
            </a:extLst>
          </p:cNvPr>
          <p:cNvGrpSpPr/>
          <p:nvPr/>
        </p:nvGrpSpPr>
        <p:grpSpPr>
          <a:xfrm>
            <a:off x="740228" y="2706920"/>
            <a:ext cx="843190" cy="936171"/>
            <a:chOff x="740228" y="2706920"/>
            <a:chExt cx="843190" cy="93617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C15D06B-D969-0010-DBB0-9DB55F2E981E}"/>
                </a:ext>
              </a:extLst>
            </p:cNvPr>
            <p:cNvSpPr/>
            <p:nvPr/>
          </p:nvSpPr>
          <p:spPr>
            <a:xfrm rot="5400000">
              <a:off x="693737" y="2753411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34251940-E354-9E99-B4C2-5907B354930D}"/>
                </a:ext>
              </a:extLst>
            </p:cNvPr>
            <p:cNvSpPr/>
            <p:nvPr/>
          </p:nvSpPr>
          <p:spPr>
            <a:xfrm>
              <a:off x="1030657" y="3001948"/>
              <a:ext cx="363803" cy="366091"/>
            </a:xfrm>
            <a:custGeom>
              <a:avLst/>
              <a:gdLst/>
              <a:ahLst/>
              <a:cxnLst/>
              <a:rect l="l" t="t" r="r" b="b"/>
              <a:pathLst>
                <a:path w="4089083" h="4114800">
                  <a:moveTo>
                    <a:pt x="0" y="0"/>
                  </a:moveTo>
                  <a:lnTo>
                    <a:pt x="4089082" y="0"/>
                  </a:lnTo>
                  <a:lnTo>
                    <a:pt x="4089082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867DA68C-96B7-1EF7-C35B-2F3862C7C0A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203" t="12939" r="5471" b="21435"/>
          <a:stretch>
            <a:fillRect/>
          </a:stretch>
        </p:blipFill>
        <p:spPr>
          <a:xfrm>
            <a:off x="708811" y="2037823"/>
            <a:ext cx="934931" cy="73151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E7DCCB0-967C-D279-110F-678F91B6582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803458" y="2806982"/>
            <a:ext cx="779960" cy="7799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1CECE5-D580-23B1-5919-02C581D6C06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861530" y="4445008"/>
            <a:ext cx="721887" cy="71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7853894-3A56-5D0E-024A-F2247ECFFC74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Need of Project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985E78-97B7-F5C9-5F0C-3EC30D9A0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303661"/>
              </p:ext>
            </p:extLst>
          </p:nvPr>
        </p:nvGraphicFramePr>
        <p:xfrm>
          <a:off x="1445512" y="1239967"/>
          <a:ext cx="9300976" cy="4302760"/>
        </p:xfrm>
        <a:graphic>
          <a:graphicData uri="http://schemas.openxmlformats.org/drawingml/2006/table">
            <a:tbl>
              <a:tblPr firstRow="1" bandRow="1">
                <a:tableStyleId>{0AAD8F4D-43EB-41E5-8A38-28AB6DFB1B60}</a:tableStyleId>
              </a:tblPr>
              <a:tblGrid>
                <a:gridCol w="4650488">
                  <a:extLst>
                    <a:ext uri="{9D8B030D-6E8A-4147-A177-3AD203B41FA5}">
                      <a16:colId xmlns:a16="http://schemas.microsoft.com/office/drawing/2014/main" val="3064832147"/>
                    </a:ext>
                  </a:extLst>
                </a:gridCol>
                <a:gridCol w="4650488">
                  <a:extLst>
                    <a:ext uri="{9D8B030D-6E8A-4147-A177-3AD203B41FA5}">
                      <a16:colId xmlns:a16="http://schemas.microsoft.com/office/drawing/2014/main" val="721106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Aspect</a:t>
                      </a:r>
                      <a:endParaRPr lang="en-I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I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59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Existing Solutions</a:t>
                      </a:r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Basic fall detection devices and emergency buttons; limited monitoring features; no behavioral analysis or predictive insights.</a:t>
                      </a:r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530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Limitations</a:t>
                      </a:r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false alerts, lack of real-time tracking, no early risk detection, no medication reminders, and limited caregiver communication.</a:t>
                      </a:r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675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Need for SilverCare</a:t>
                      </a:r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 intelligent, wearable system with continuous monitoring, early instability detection, fall detection, medication reminders, and automated real-time alerts to caregivers</a:t>
                      </a:r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42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</a:t>
                      </a:r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Faster emergency response, reduced injury severity, improved elderly safety, and peace of mind for families.</a:t>
                      </a:r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9380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54DAA0B5-D49D-D971-A0D4-0A4C28AE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B1ECF53D-A9AC-A2BC-5585-98F3B9A7D89C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883974E-C694-F06D-D690-8C30026F7356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Proposed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68122-AE3A-A450-95BB-6997399244D9}"/>
              </a:ext>
            </a:extLst>
          </p:cNvPr>
          <p:cNvSpPr txBox="1"/>
          <p:nvPr/>
        </p:nvSpPr>
        <p:spPr>
          <a:xfrm>
            <a:off x="446315" y="1794442"/>
            <a:ext cx="90887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Wearable Waistband Device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Comfortable for continuous daily use.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Multi-Sensor Monitoring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Tracks movement, posture, inactivity, and vital signs in real time.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Detection System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Processes data to detect falls and abnormal behaviour with fewer false alerts.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Medicine Reminder Feature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Sends timely alerts to ensure medicines are taken on schedule.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Emergency Alerts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Notifies caregivers instantly via GSM or Twilio.</a:t>
            </a:r>
          </a:p>
        </p:txBody>
      </p:sp>
    </p:spTree>
    <p:extLst>
      <p:ext uri="{BB962C8B-B14F-4D97-AF65-F5344CB8AC3E}">
        <p14:creationId xmlns:p14="http://schemas.microsoft.com/office/powerpoint/2010/main" val="382098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8CDC953-2B84-68FE-7DE5-8D086B35CDF6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Solution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1E7F05-383B-7C11-B83F-43960B20ED0A}"/>
              </a:ext>
            </a:extLst>
          </p:cNvPr>
          <p:cNvSpPr txBox="1"/>
          <p:nvPr/>
        </p:nvSpPr>
        <p:spPr>
          <a:xfrm>
            <a:off x="348341" y="1137949"/>
            <a:ext cx="11069935" cy="4160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A8367B1-7CD5-4FFD-A32B-4D7E0B293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016" y="1129135"/>
            <a:ext cx="11512061" cy="5146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What?</a:t>
            </a:r>
            <a:endParaRPr lang="en-US" alt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wearable monitoring system for senior citizens to track health, activity, and safety.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reduce risks from falls, missed medications, and delayed emergency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Elderly individuals living alone and their caregivers or family members.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home or during daily activities, without restricting movement.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monitoring, with instant alerts during emergencies.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a wearable waistband with multi-sensors, smart detection logic, medicine reminders, and automatic caregiver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7FCB28-836D-8BB8-8DF2-FE477873FAEB}"/>
              </a:ext>
            </a:extLst>
          </p:cNvPr>
          <p:cNvSpPr txBox="1">
            <a:spLocks/>
          </p:cNvSpPr>
          <p:nvPr/>
        </p:nvSpPr>
        <p:spPr>
          <a:xfrm>
            <a:off x="454941" y="531164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Technology used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EB5405-9A31-1486-91F5-C7BBEA611907}"/>
              </a:ext>
            </a:extLst>
          </p:cNvPr>
          <p:cNvGrpSpPr/>
          <p:nvPr/>
        </p:nvGrpSpPr>
        <p:grpSpPr>
          <a:xfrm>
            <a:off x="375556" y="1257300"/>
            <a:ext cx="6585681" cy="3918460"/>
            <a:chOff x="734785" y="1349834"/>
            <a:chExt cx="6585681" cy="39184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84E941-566A-01D9-694F-1E6A94DCBE3A}"/>
                </a:ext>
              </a:extLst>
            </p:cNvPr>
            <p:cNvSpPr txBox="1"/>
            <p:nvPr/>
          </p:nvSpPr>
          <p:spPr>
            <a:xfrm>
              <a:off x="1632854" y="1665517"/>
              <a:ext cx="55106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Microcontroller: ESP32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BED06D0-D576-04D7-8A6A-59FFC1A77774}"/>
                </a:ext>
              </a:extLst>
            </p:cNvPr>
            <p:cNvSpPr/>
            <p:nvPr/>
          </p:nvSpPr>
          <p:spPr>
            <a:xfrm rot="5400000">
              <a:off x="688294" y="1396325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306874-9D27-72C4-3E5C-C89E3D830C42}"/>
                </a:ext>
              </a:extLst>
            </p:cNvPr>
            <p:cNvSpPr txBox="1"/>
            <p:nvPr/>
          </p:nvSpPr>
          <p:spPr>
            <a:xfrm>
              <a:off x="1632854" y="2400989"/>
              <a:ext cx="56876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Motion Sensor: MPU6050 (Accelerometer and Gyroscope) </a:t>
              </a: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2FE0FB3-8D2C-2324-E161-4A103A0228AE}"/>
                </a:ext>
              </a:extLst>
            </p:cNvPr>
            <p:cNvSpPr/>
            <p:nvPr/>
          </p:nvSpPr>
          <p:spPr>
            <a:xfrm rot="5400000">
              <a:off x="688294" y="2207311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024B58D-1C2C-B49A-D9A6-5DE565BCFE94}"/>
                </a:ext>
              </a:extLst>
            </p:cNvPr>
            <p:cNvSpPr/>
            <p:nvPr/>
          </p:nvSpPr>
          <p:spPr>
            <a:xfrm rot="5400000">
              <a:off x="688294" y="3018297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B75F5EC-8B32-E4EC-478E-DB3BC6715FF7}"/>
                </a:ext>
              </a:extLst>
            </p:cNvPr>
            <p:cNvSpPr/>
            <p:nvPr/>
          </p:nvSpPr>
          <p:spPr>
            <a:xfrm rot="5400000">
              <a:off x="688294" y="3829283"/>
              <a:ext cx="936171" cy="843190"/>
            </a:xfrm>
            <a:custGeom>
              <a:avLst/>
              <a:gdLst/>
              <a:ahLst/>
              <a:cxnLst/>
              <a:rect l="l" t="t" r="r" b="b"/>
              <a:pathLst>
                <a:path w="1527620" h="4114800">
                  <a:moveTo>
                    <a:pt x="0" y="0"/>
                  </a:moveTo>
                  <a:lnTo>
                    <a:pt x="1527619" y="0"/>
                  </a:lnTo>
                  <a:lnTo>
                    <a:pt x="152761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12328" r="-128568" b="-546691"/>
              </a:stretch>
            </a:blipFill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106472-6F65-BD28-0CFC-F4EAB059773A}"/>
                </a:ext>
              </a:extLst>
            </p:cNvPr>
            <p:cNvSpPr txBox="1"/>
            <p:nvPr/>
          </p:nvSpPr>
          <p:spPr>
            <a:xfrm>
              <a:off x="1632854" y="3136461"/>
              <a:ext cx="5399315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nn-NO" sz="1800" dirty="0">
                  <a:latin typeface="Calibri"/>
                  <a:cs typeface="Calibri"/>
                </a:rPr>
                <a:t>Physiological Sensors: MAX30102 (Heart Rate and SpO2), DS18B20 (Body Temperature)</a:t>
              </a:r>
              <a:endParaRPr lang="en-US" sz="1800" dirty="0">
                <a:latin typeface="Calibri"/>
                <a:cs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B5334A-E333-7099-4930-287CC31F8DC3}"/>
                </a:ext>
              </a:extLst>
            </p:cNvPr>
            <p:cNvSpPr txBox="1"/>
            <p:nvPr/>
          </p:nvSpPr>
          <p:spPr>
            <a:xfrm>
              <a:off x="1632854" y="3986418"/>
              <a:ext cx="55106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Machine Learning: Multi-parameter rule-based engineer and Decision Trees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B3262A-EBC7-70F4-E80B-7105E0186D12}"/>
                </a:ext>
              </a:extLst>
            </p:cNvPr>
            <p:cNvSpPr txBox="1"/>
            <p:nvPr/>
          </p:nvSpPr>
          <p:spPr>
            <a:xfrm>
              <a:off x="1077686" y="1687286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228E7F-45DD-6A92-9B7A-93012225AB45}"/>
                </a:ext>
              </a:extLst>
            </p:cNvPr>
            <p:cNvSpPr txBox="1"/>
            <p:nvPr/>
          </p:nvSpPr>
          <p:spPr>
            <a:xfrm>
              <a:off x="1077686" y="2492829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751CB5-990A-59AE-4BA7-0EAD540C8819}"/>
                </a:ext>
              </a:extLst>
            </p:cNvPr>
            <p:cNvSpPr txBox="1"/>
            <p:nvPr/>
          </p:nvSpPr>
          <p:spPr>
            <a:xfrm>
              <a:off x="1110343" y="3275111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30CF7E-892C-CA55-823A-B74F5B45E524}"/>
                </a:ext>
              </a:extLst>
            </p:cNvPr>
            <p:cNvSpPr txBox="1"/>
            <p:nvPr/>
          </p:nvSpPr>
          <p:spPr>
            <a:xfrm>
              <a:off x="1088572" y="4124197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E56E4BE-594A-6803-2C46-5A2012300497}"/>
                </a:ext>
              </a:extLst>
            </p:cNvPr>
            <p:cNvSpPr txBox="1"/>
            <p:nvPr/>
          </p:nvSpPr>
          <p:spPr>
            <a:xfrm>
              <a:off x="1099458" y="4929740"/>
              <a:ext cx="250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3" name="Freeform 6">
            <a:extLst>
              <a:ext uri="{FF2B5EF4-FFF2-40B4-BE49-F238E27FC236}">
                <a16:creationId xmlns:a16="http://schemas.microsoft.com/office/drawing/2014/main" id="{D333C9ED-9C9F-4558-4E65-E64DDC108A17}"/>
              </a:ext>
            </a:extLst>
          </p:cNvPr>
          <p:cNvSpPr/>
          <p:nvPr/>
        </p:nvSpPr>
        <p:spPr>
          <a:xfrm rot="5400000">
            <a:off x="305166" y="4620220"/>
            <a:ext cx="936171" cy="843190"/>
          </a:xfrm>
          <a:custGeom>
            <a:avLst/>
            <a:gdLst/>
            <a:ahLst/>
            <a:cxnLst/>
            <a:rect l="l" t="t" r="r" b="b"/>
            <a:pathLst>
              <a:path w="1527620" h="4114800">
                <a:moveTo>
                  <a:pt x="0" y="0"/>
                </a:moveTo>
                <a:lnTo>
                  <a:pt x="1527619" y="0"/>
                </a:lnTo>
                <a:lnTo>
                  <a:pt x="152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12328" r="-128568" b="-546691"/>
            </a:stretch>
          </a:blipFill>
        </p:spPr>
        <p:txBody>
          <a:bodyPr/>
          <a:lstStyle/>
          <a:p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F77C9-846A-5632-4153-962ABFB55A28}"/>
              </a:ext>
            </a:extLst>
          </p:cNvPr>
          <p:cNvSpPr txBox="1"/>
          <p:nvPr/>
        </p:nvSpPr>
        <p:spPr>
          <a:xfrm>
            <a:off x="705893" y="4887926"/>
            <a:ext cx="262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092BAE-59E5-C3E2-8469-EA83F46B0A18}"/>
              </a:ext>
            </a:extLst>
          </p:cNvPr>
          <p:cNvSpPr txBox="1"/>
          <p:nvPr/>
        </p:nvSpPr>
        <p:spPr>
          <a:xfrm>
            <a:off x="1273625" y="4836284"/>
            <a:ext cx="5687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Communication: Twilio API key, GSM module for alert delivery</a:t>
            </a:r>
            <a:endParaRPr lang="en-IN" sz="1800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B57897A3-9A79-F89F-336E-AD26742042D4}"/>
              </a:ext>
            </a:extLst>
          </p:cNvPr>
          <p:cNvSpPr/>
          <p:nvPr/>
        </p:nvSpPr>
        <p:spPr>
          <a:xfrm rot="5400000">
            <a:off x="286777" y="5529106"/>
            <a:ext cx="936171" cy="843190"/>
          </a:xfrm>
          <a:custGeom>
            <a:avLst/>
            <a:gdLst/>
            <a:ahLst/>
            <a:cxnLst/>
            <a:rect l="l" t="t" r="r" b="b"/>
            <a:pathLst>
              <a:path w="1527620" h="4114800">
                <a:moveTo>
                  <a:pt x="0" y="0"/>
                </a:moveTo>
                <a:lnTo>
                  <a:pt x="1527619" y="0"/>
                </a:lnTo>
                <a:lnTo>
                  <a:pt x="152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12328" r="-128568" b="-546691"/>
            </a:stretch>
          </a:blipFill>
        </p:spPr>
        <p:txBody>
          <a:bodyPr/>
          <a:lstStyle/>
          <a:p>
            <a:endParaRPr lang="en-US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B27ACE-534D-83FC-7F4A-72973D047E2A}"/>
              </a:ext>
            </a:extLst>
          </p:cNvPr>
          <p:cNvSpPr txBox="1"/>
          <p:nvPr/>
        </p:nvSpPr>
        <p:spPr>
          <a:xfrm>
            <a:off x="651892" y="5795006"/>
            <a:ext cx="290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6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8817E2-D2F1-CA38-3653-98F26573DF94}"/>
              </a:ext>
            </a:extLst>
          </p:cNvPr>
          <p:cNvSpPr txBox="1"/>
          <p:nvPr/>
        </p:nvSpPr>
        <p:spPr>
          <a:xfrm>
            <a:off x="1311728" y="5740582"/>
            <a:ext cx="6091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Software Tools: Python, JavaScript, Arduino IDE, Serial Monitor</a:t>
            </a:r>
            <a:r>
              <a:rPr lang="en-IN" sz="1800" dirty="0"/>
              <a:t>, Firebase.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D1BDE3-7D7C-42E9-F4EA-59D39CB39F60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Technical flow diagram 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619BF-2A95-FFBA-B0D5-46B927D1D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401" y="403123"/>
            <a:ext cx="3302628" cy="618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A749-AB4F-0DC9-D988-50B0D748214A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Architecture Blueprint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168FCB-2A54-EA7C-5C8B-68827EFE5D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24" b="16528"/>
          <a:stretch>
            <a:fillRect/>
          </a:stretch>
        </p:blipFill>
        <p:spPr>
          <a:xfrm>
            <a:off x="571007" y="1487302"/>
            <a:ext cx="11495985" cy="47883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15CB7-81A8-467B-9A1F-9E1B41992678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566057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Workflow diagram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3CAE0F-755E-7918-3A4A-0004974E0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483" y="582388"/>
            <a:ext cx="1998403" cy="594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86DCB7A6-634A-2780-9E61-89390F578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8BD7FAED-4E8E-17E3-9A26-E47A017A12CD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D52C8353-2CE1-BBD4-C142-0E2ABD1DE801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2C204748-0169-CDFE-7295-AAF53ADE62CE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5CD84464-3DBB-B5B5-C3CB-BDD8C5F71133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CBA93AD7-CD0C-C09C-F0BC-09900B05EDBF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F051060C-A710-029F-D495-EAA70BD5F618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F353DA-7794-0E7B-DCB9-60A0055758D8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Screen shots of your project 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E5FEC6-69A3-7FB7-3C27-4CF1AF8BD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4" y="1265506"/>
            <a:ext cx="3234731" cy="4312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CBCDDD-F694-4D80-8488-59FF8DCDEDB5}"/>
              </a:ext>
            </a:extLst>
          </p:cNvPr>
          <p:cNvSpPr txBox="1"/>
          <p:nvPr/>
        </p:nvSpPr>
        <p:spPr>
          <a:xfrm>
            <a:off x="7079448" y="3052661"/>
            <a:ext cx="339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Wearable Waist Belt (Hardware) 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713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514A035C-8A2E-6667-0023-E485F12E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7AE50D9A-117E-5401-2211-C281C1A03C09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F271C4C5-08F9-692A-E911-D3FD3940C932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B0658BC8-34E0-2732-E805-16B4774FE603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B573918D-8CBE-5ABF-318B-77176BDF7638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C3160999-0030-ECB5-E0F0-6260978D46BC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34D05526-EB11-42D6-E456-B730C9E8D6DF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38221CD-A199-5E37-06E7-FFC6CDAAD56C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Screen shots of your project 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98EE56-9D9E-44AC-5068-5FF0C3BFC5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583" t="25651" r="35669" b="16297"/>
          <a:stretch>
            <a:fillRect/>
          </a:stretch>
        </p:blipFill>
        <p:spPr bwMode="auto">
          <a:xfrm>
            <a:off x="779224" y="1640138"/>
            <a:ext cx="3726782" cy="42327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C66BDA-2034-E314-A5B3-47A7F2BE8932}"/>
              </a:ext>
            </a:extLst>
          </p:cNvPr>
          <p:cNvSpPr txBox="1"/>
          <p:nvPr/>
        </p:nvSpPr>
        <p:spPr>
          <a:xfrm>
            <a:off x="8181499" y="3228945"/>
            <a:ext cx="2110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screen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153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D31940CD-93FC-EA92-EC0F-89CEFD1E6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C79B4167-989F-DA2E-B344-67AE864E3D94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FCB91C1-32C1-52F4-EE89-40BE4424336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020AD9C-37DA-112E-D4A4-DC2A8094A71B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914067F4-0B8F-535B-FAD9-8CE33EE0B450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38A5DEE6-5448-4B15-5EE5-3042102AF1F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265FD251-E752-0EDD-6911-AC1945843420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23F0B3-1B6B-1A13-FBC0-0C301DBD4E1A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Screen shots of your project 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F58E13-8F1B-D018-CEFC-93BE97232B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751" t="11953" r="35244" b="3672"/>
          <a:stretch>
            <a:fillRect/>
          </a:stretch>
        </p:blipFill>
        <p:spPr bwMode="auto">
          <a:xfrm>
            <a:off x="1022132" y="1135493"/>
            <a:ext cx="3382943" cy="55376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F23D85-2894-FC92-CB2D-3EE041762BFC}"/>
              </a:ext>
            </a:extLst>
          </p:cNvPr>
          <p:cNvSpPr txBox="1"/>
          <p:nvPr/>
        </p:nvSpPr>
        <p:spPr>
          <a:xfrm>
            <a:off x="7786927" y="3202500"/>
            <a:ext cx="3930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Elderly Portal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208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2EACB460-FC71-C8EA-FE4F-5951B3D8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CCB166C4-BDFF-C92F-92A9-6B679F4B28AF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ED6AD74A-3F40-BFD0-90B8-45EA0CC90C79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E8250837-AF97-CA7B-E6CA-1E25006AD91E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870EAFDA-E085-48E0-CA86-C5072D560DF2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E4D65EA7-F151-948A-3286-61EB41E21580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F4718BA2-9391-E6EE-39DF-B61FC1FB05CF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35A62C-066A-FDF5-2076-805D41B78D8B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Screen shots of your project -</a:t>
            </a: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9A982108-66CB-0EC2-AAA0-78CA347673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651" y="1254426"/>
            <a:ext cx="3423468" cy="50041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E1A7F9-62BF-BB08-CAA2-7C7C1DE22997}"/>
              </a:ext>
            </a:extLst>
          </p:cNvPr>
          <p:cNvSpPr txBox="1"/>
          <p:nvPr/>
        </p:nvSpPr>
        <p:spPr>
          <a:xfrm>
            <a:off x="7511569" y="3244334"/>
            <a:ext cx="3949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AI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companion</a:t>
            </a:r>
            <a:r>
              <a:rPr lang="en-US" sz="1800" b="1" dirty="0"/>
              <a:t> chatbot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751360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3831FC84-D54D-F6F6-73D2-DD49B533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21C7B316-4F4A-24DB-15B9-B406A92ADE87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9FBE0F19-7A63-BAA1-72DB-4B6074DF1408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8469DBD1-0A15-4DBE-3A63-F7CCE16F9C3B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6BC86B00-F764-8599-6ECC-80B940EB3A1B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75234420-5235-BB55-E8B2-AA17D64044DF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8A078A78-003C-B234-867D-F8B5040FE394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5AFD7D-EBD0-540B-DF97-E025596E7735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Screen shots of your project 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C685BA-C845-5C7C-D84A-EB0E2B98A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03" y="1086694"/>
            <a:ext cx="3247256" cy="53396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2E5BEB-1A65-A965-EB2C-83EAD77E894A}"/>
              </a:ext>
            </a:extLst>
          </p:cNvPr>
          <p:cNvSpPr txBox="1"/>
          <p:nvPr/>
        </p:nvSpPr>
        <p:spPr>
          <a:xfrm>
            <a:off x="7059737" y="3244334"/>
            <a:ext cx="425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Guardian Dashboard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588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F61E1EF1-586E-09B2-75F3-D9901EAB6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FDB2EB7F-A926-02FE-0F5D-AEDE98E2568F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6F1FF18D-0653-681D-4B35-8063F6CA14B4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B94C5E2C-0A30-9D83-65E0-3A8BD966A69E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417E2CB2-DCAA-43C9-2267-111874654F3C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485510BC-6E55-000B-BCC0-5C12214CF19E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8F17AC84-7DD5-87A5-9A70-45C2532AF9CA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6BD038-FC3E-D948-6E3C-3CA28D1929F6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Screen shots of your project 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62DD6-BE67-B7FC-A3B2-05DF5809EE3C}"/>
              </a:ext>
            </a:extLst>
          </p:cNvPr>
          <p:cNvSpPr txBox="1"/>
          <p:nvPr/>
        </p:nvSpPr>
        <p:spPr>
          <a:xfrm>
            <a:off x="6901502" y="3059668"/>
            <a:ext cx="425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SMS alert through Twilio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9CC651-646B-258B-D7D4-ED377CAA8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09" y="994408"/>
            <a:ext cx="2583899" cy="574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14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8D4FCCCD-4A2E-3511-1CE1-D64AD635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440E7AE8-D363-3F48-3FAA-FA799A13027A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795E95DA-40A6-59D1-BE88-9E25A65A980B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91AB269E-6D5F-582D-2008-7E1F7F844828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CB30F16A-AE42-1509-AF23-A9EABE00C930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33B2281C-F6D9-B817-3394-CCBA678E74F0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802A6D79-07A6-4AE5-A411-51EE1140B945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0E9822-3683-1D57-0E06-BD114FD5C520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11938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Screen shots of your project 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4116B-A5E9-BF4D-3A3D-88F74C9C052E}"/>
              </a:ext>
            </a:extLst>
          </p:cNvPr>
          <p:cNvSpPr txBox="1"/>
          <p:nvPr/>
        </p:nvSpPr>
        <p:spPr>
          <a:xfrm>
            <a:off x="7331011" y="3429000"/>
            <a:ext cx="425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Medicine Scheduling</a:t>
            </a:r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DEB0E0-12E0-1B59-9687-EA5A6C84F7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067" t="11803" r="34128" b="12285"/>
          <a:stretch>
            <a:fillRect/>
          </a:stretch>
        </p:blipFill>
        <p:spPr bwMode="auto">
          <a:xfrm>
            <a:off x="1012983" y="1269283"/>
            <a:ext cx="4064318" cy="52900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45381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416CE90F-71E3-21D0-BA78-91A91132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271">
            <a:extLst>
              <a:ext uri="{FF2B5EF4-FFF2-40B4-BE49-F238E27FC236}">
                <a16:creationId xmlns:a16="http://schemas.microsoft.com/office/drawing/2014/main" id="{5A0F0C55-C4ED-73D3-F786-5FA02ACE6D68}"/>
              </a:ext>
            </a:extLst>
          </p:cNvPr>
          <p:cNvGrpSpPr/>
          <p:nvPr/>
        </p:nvGrpSpPr>
        <p:grpSpPr>
          <a:xfrm>
            <a:off x="359226" y="1257300"/>
            <a:ext cx="11462650" cy="4838700"/>
            <a:chOff x="457200" y="1257300"/>
            <a:chExt cx="11462650" cy="4838700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0A3E513C-EA69-9F5E-4AB9-61B5939A5789}"/>
                </a:ext>
              </a:extLst>
            </p:cNvPr>
            <p:cNvSpPr/>
            <p:nvPr/>
          </p:nvSpPr>
          <p:spPr>
            <a:xfrm>
              <a:off x="1828009" y="2114155"/>
              <a:ext cx="8742020" cy="31219"/>
            </a:xfrm>
            <a:prstGeom prst="line">
              <a:avLst/>
            </a:prstGeom>
            <a:ln w="47625" cap="flat">
              <a:solidFill>
                <a:srgbClr val="8D9193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CD06130-FE37-5A28-174A-727A7CC9FF81}"/>
                </a:ext>
              </a:extLst>
            </p:cNvPr>
            <p:cNvGrpSpPr/>
            <p:nvPr/>
          </p:nvGrpSpPr>
          <p:grpSpPr>
            <a:xfrm>
              <a:off x="1572683" y="2151799"/>
              <a:ext cx="468690" cy="1528270"/>
              <a:chOff x="1779397" y="2456804"/>
              <a:chExt cx="468690" cy="1528270"/>
            </a:xfrm>
          </p:grpSpPr>
          <p:sp>
            <p:nvSpPr>
              <p:cNvPr id="7" name="AutoShape 8">
                <a:extLst>
                  <a:ext uri="{FF2B5EF4-FFF2-40B4-BE49-F238E27FC236}">
                    <a16:creationId xmlns:a16="http://schemas.microsoft.com/office/drawing/2014/main" id="{6F80D0C8-83C8-34E1-8C69-114DE2824A50}"/>
                  </a:ext>
                </a:extLst>
              </p:cNvPr>
              <p:cNvSpPr/>
              <p:nvPr/>
            </p:nvSpPr>
            <p:spPr>
              <a:xfrm flipV="1">
                <a:off x="2013742" y="2456804"/>
                <a:ext cx="0" cy="1296981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" name="Group 15">
                <a:extLst>
                  <a:ext uri="{FF2B5EF4-FFF2-40B4-BE49-F238E27FC236}">
                    <a16:creationId xmlns:a16="http://schemas.microsoft.com/office/drawing/2014/main" id="{B7EE4523-D724-BA6A-443F-0290938CC9C4}"/>
                  </a:ext>
                </a:extLst>
              </p:cNvPr>
              <p:cNvGrpSpPr/>
              <p:nvPr/>
            </p:nvGrpSpPr>
            <p:grpSpPr>
              <a:xfrm rot="-10800000">
                <a:off x="1779397" y="3623616"/>
                <a:ext cx="468690" cy="361458"/>
                <a:chOff x="0" y="0"/>
                <a:chExt cx="922188" cy="711200"/>
              </a:xfrm>
            </p:grpSpPr>
            <p:sp>
              <p:nvSpPr>
                <p:cNvPr id="15" name="Freeform 16">
                  <a:extLst>
                    <a:ext uri="{FF2B5EF4-FFF2-40B4-BE49-F238E27FC236}">
                      <a16:creationId xmlns:a16="http://schemas.microsoft.com/office/drawing/2014/main" id="{871B3BBB-F30C-54B1-2CC6-0CED0C2440EF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9366E4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TextBox 17">
                  <a:extLst>
                    <a:ext uri="{FF2B5EF4-FFF2-40B4-BE49-F238E27FC236}">
                      <a16:creationId xmlns:a16="http://schemas.microsoft.com/office/drawing/2014/main" id="{30C12B85-4224-F44F-3211-CE60E766CF75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DDF31A0C-77BF-EFF2-B1CE-8DA07D90F38C}"/>
                </a:ext>
              </a:extLst>
            </p:cNvPr>
            <p:cNvSpPr txBox="1"/>
            <p:nvPr/>
          </p:nvSpPr>
          <p:spPr>
            <a:xfrm>
              <a:off x="598832" y="4067360"/>
              <a:ext cx="2917136" cy="1399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F3F7E365-9D38-5677-7432-BDFD7217AEB3}"/>
                </a:ext>
              </a:extLst>
            </p:cNvPr>
            <p:cNvGrpSpPr/>
            <p:nvPr/>
          </p:nvGrpSpPr>
          <p:grpSpPr>
            <a:xfrm>
              <a:off x="457200" y="3695947"/>
              <a:ext cx="2656106" cy="2400053"/>
              <a:chOff x="457200" y="3695947"/>
              <a:chExt cx="2656106" cy="2400053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6218766B-427A-8F11-3719-323D25F6AB5B}"/>
                  </a:ext>
                </a:extLst>
              </p:cNvPr>
              <p:cNvSpPr/>
              <p:nvPr/>
            </p:nvSpPr>
            <p:spPr>
              <a:xfrm>
                <a:off x="457200" y="4272889"/>
                <a:ext cx="2656106" cy="1823111"/>
              </a:xfrm>
              <a:prstGeom prst="roundRect">
                <a:avLst>
                  <a:gd name="adj" fmla="val 12163"/>
                </a:avLst>
              </a:prstGeom>
              <a:solidFill>
                <a:srgbClr val="EAE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2">
                <a:extLst>
                  <a:ext uri="{FF2B5EF4-FFF2-40B4-BE49-F238E27FC236}">
                    <a16:creationId xmlns:a16="http://schemas.microsoft.com/office/drawing/2014/main" id="{85D85324-4782-DA38-3181-939FE970DF09}"/>
                  </a:ext>
                </a:extLst>
              </p:cNvPr>
              <p:cNvGrpSpPr/>
              <p:nvPr/>
            </p:nvGrpSpPr>
            <p:grpSpPr>
              <a:xfrm>
                <a:off x="1415368" y="3695947"/>
                <a:ext cx="739770" cy="739770"/>
                <a:chOff x="0" y="0"/>
                <a:chExt cx="812800" cy="812800"/>
              </a:xfrm>
            </p:grpSpPr>
            <p:sp>
              <p:nvSpPr>
                <p:cNvPr id="12" name="Freeform 13">
                  <a:extLst>
                    <a:ext uri="{FF2B5EF4-FFF2-40B4-BE49-F238E27FC236}">
                      <a16:creationId xmlns:a16="http://schemas.microsoft.com/office/drawing/2014/main" id="{00CE095B-0352-5A86-8F44-BFF62C7F233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9366E4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TextBox 14">
                  <a:extLst>
                    <a:ext uri="{FF2B5EF4-FFF2-40B4-BE49-F238E27FC236}">
                      <a16:creationId xmlns:a16="http://schemas.microsoft.com/office/drawing/2014/main" id="{6B67DE5C-1244-20F1-4D7E-9934E36B209E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  <p:sp>
            <p:nvSpPr>
              <p:cNvPr id="17" name="TextBox 67">
                <a:extLst>
                  <a:ext uri="{FF2B5EF4-FFF2-40B4-BE49-F238E27FC236}">
                    <a16:creationId xmlns:a16="http://schemas.microsoft.com/office/drawing/2014/main" id="{CD1AE653-6650-BECC-9548-2BE815B269AE}"/>
                  </a:ext>
                </a:extLst>
              </p:cNvPr>
              <p:cNvSpPr txBox="1"/>
              <p:nvPr/>
            </p:nvSpPr>
            <p:spPr>
              <a:xfrm>
                <a:off x="529318" y="4683959"/>
                <a:ext cx="2511870" cy="73866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1600" b="1" dirty="0">
                    <a:solidFill>
                      <a:srgbClr val="1C1C1A"/>
                    </a:solidFill>
                    <a:latin typeface="Calibri" panose="020F0502020204030204" pitchFamily="34" charset="0"/>
                    <a:ea typeface="Montserrat Ultra-Bold"/>
                    <a:cs typeface="Calibri" panose="020F0502020204030204" pitchFamily="34" charset="0"/>
                    <a:sym typeface="Montserrat Ultra-Bold"/>
                  </a:rPr>
                  <a:t>Proactive Monitoring- </a:t>
                </a:r>
                <a:r>
                  <a:rPr lang="en-US" sz="1600" dirty="0">
                    <a:solidFill>
                      <a:srgbClr val="1C1C1A"/>
                    </a:solidFill>
                    <a:latin typeface="Calibri" panose="020F0502020204030204" pitchFamily="34" charset="0"/>
                    <a:ea typeface="Montserrat Ultra-Bold"/>
                    <a:cs typeface="Calibri" panose="020F0502020204030204" pitchFamily="34" charset="0"/>
                    <a:sym typeface="Montserrat Ultra-Bold"/>
                  </a:rPr>
                  <a:t>Detects abnormal patterns before serious fall. 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FAE7F35-4433-6DDF-4A14-A37E74AEFA32}"/>
                </a:ext>
              </a:extLst>
            </p:cNvPr>
            <p:cNvGrpSpPr/>
            <p:nvPr/>
          </p:nvGrpSpPr>
          <p:grpSpPr>
            <a:xfrm>
              <a:off x="4492478" y="2212351"/>
              <a:ext cx="468690" cy="1456833"/>
              <a:chOff x="5529870" y="3148727"/>
              <a:chExt cx="468690" cy="1456833"/>
            </a:xfrm>
          </p:grpSpPr>
          <p:sp>
            <p:nvSpPr>
              <p:cNvPr id="18" name="AutoShape 19">
                <a:extLst>
                  <a:ext uri="{FF2B5EF4-FFF2-40B4-BE49-F238E27FC236}">
                    <a16:creationId xmlns:a16="http://schemas.microsoft.com/office/drawing/2014/main" id="{68A95C0A-FC90-D1AB-6EBA-A467CFF98295}"/>
                  </a:ext>
                </a:extLst>
              </p:cNvPr>
              <p:cNvSpPr/>
              <p:nvPr/>
            </p:nvSpPr>
            <p:spPr>
              <a:xfrm flipV="1">
                <a:off x="5764215" y="3148727"/>
                <a:ext cx="0" cy="1225543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" name="Group 26">
                <a:extLst>
                  <a:ext uri="{FF2B5EF4-FFF2-40B4-BE49-F238E27FC236}">
                    <a16:creationId xmlns:a16="http://schemas.microsoft.com/office/drawing/2014/main" id="{BE2B2AAE-13AA-22E9-4EDC-059C7905D53A}"/>
                  </a:ext>
                </a:extLst>
              </p:cNvPr>
              <p:cNvGrpSpPr/>
              <p:nvPr/>
            </p:nvGrpSpPr>
            <p:grpSpPr>
              <a:xfrm rot="-10800000">
                <a:off x="5529870" y="4244102"/>
                <a:ext cx="468690" cy="361458"/>
                <a:chOff x="0" y="0"/>
                <a:chExt cx="922188" cy="711200"/>
              </a:xfrm>
            </p:grpSpPr>
            <p:sp>
              <p:nvSpPr>
                <p:cNvPr id="20" name="Freeform 27">
                  <a:extLst>
                    <a:ext uri="{FF2B5EF4-FFF2-40B4-BE49-F238E27FC236}">
                      <a16:creationId xmlns:a16="http://schemas.microsoft.com/office/drawing/2014/main" id="{CDC77F88-3FC2-656B-628D-BEF0198EAB68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E46671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TextBox 28">
                  <a:extLst>
                    <a:ext uri="{FF2B5EF4-FFF2-40B4-BE49-F238E27FC236}">
                      <a16:creationId xmlns:a16="http://schemas.microsoft.com/office/drawing/2014/main" id="{B55FB2A9-2596-3DBB-2929-8F12CC8F5F22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8680696-E93E-8A90-6DF3-98C1DBB3E7FA}"/>
                </a:ext>
              </a:extLst>
            </p:cNvPr>
            <p:cNvGrpSpPr/>
            <p:nvPr/>
          </p:nvGrpSpPr>
          <p:grpSpPr>
            <a:xfrm>
              <a:off x="7412273" y="2242251"/>
              <a:ext cx="468690" cy="1426933"/>
              <a:chOff x="8910683" y="3178627"/>
              <a:chExt cx="468690" cy="1426933"/>
            </a:xfrm>
          </p:grpSpPr>
          <p:sp>
            <p:nvSpPr>
              <p:cNvPr id="23" name="AutoShape 29">
                <a:extLst>
                  <a:ext uri="{FF2B5EF4-FFF2-40B4-BE49-F238E27FC236}">
                    <a16:creationId xmlns:a16="http://schemas.microsoft.com/office/drawing/2014/main" id="{6F5E88DF-DEE0-A71A-2B00-86098277BB1A}"/>
                  </a:ext>
                </a:extLst>
              </p:cNvPr>
              <p:cNvSpPr/>
              <p:nvPr/>
            </p:nvSpPr>
            <p:spPr>
              <a:xfrm flipH="1" flipV="1">
                <a:off x="9145028" y="3178627"/>
                <a:ext cx="0" cy="1195643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4" name="Group 37">
                <a:extLst>
                  <a:ext uri="{FF2B5EF4-FFF2-40B4-BE49-F238E27FC236}">
                    <a16:creationId xmlns:a16="http://schemas.microsoft.com/office/drawing/2014/main" id="{91318B96-C54D-C112-5CFD-EF88CD1C8554}"/>
                  </a:ext>
                </a:extLst>
              </p:cNvPr>
              <p:cNvGrpSpPr/>
              <p:nvPr/>
            </p:nvGrpSpPr>
            <p:grpSpPr>
              <a:xfrm rot="-10800000">
                <a:off x="8910683" y="4244102"/>
                <a:ext cx="468690" cy="361458"/>
                <a:chOff x="0" y="0"/>
                <a:chExt cx="922188" cy="711200"/>
              </a:xfrm>
            </p:grpSpPr>
            <p:sp>
              <p:nvSpPr>
                <p:cNvPr id="25" name="Freeform 38">
                  <a:extLst>
                    <a:ext uri="{FF2B5EF4-FFF2-40B4-BE49-F238E27FC236}">
                      <a16:creationId xmlns:a16="http://schemas.microsoft.com/office/drawing/2014/main" id="{9C450C3B-198E-2F11-B744-A2C58DD010F0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38AEB6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TextBox 39">
                  <a:extLst>
                    <a:ext uri="{FF2B5EF4-FFF2-40B4-BE49-F238E27FC236}">
                      <a16:creationId xmlns:a16="http://schemas.microsoft.com/office/drawing/2014/main" id="{53A43635-0848-063B-C694-40304CEEAEEC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7A096F7-8B22-4167-154F-CBC8FB0231B8}"/>
                </a:ext>
              </a:extLst>
            </p:cNvPr>
            <p:cNvGrpSpPr/>
            <p:nvPr/>
          </p:nvGrpSpPr>
          <p:grpSpPr>
            <a:xfrm>
              <a:off x="10332067" y="2161060"/>
              <a:ext cx="468690" cy="1508124"/>
              <a:chOff x="9929296" y="2389865"/>
              <a:chExt cx="468690" cy="1508124"/>
            </a:xfrm>
          </p:grpSpPr>
          <p:sp>
            <p:nvSpPr>
              <p:cNvPr id="28" name="AutoShape 40">
                <a:extLst>
                  <a:ext uri="{FF2B5EF4-FFF2-40B4-BE49-F238E27FC236}">
                    <a16:creationId xmlns:a16="http://schemas.microsoft.com/office/drawing/2014/main" id="{7D290BEB-F88F-CC5C-7524-A7F4C4D72E8D}"/>
                  </a:ext>
                </a:extLst>
              </p:cNvPr>
              <p:cNvSpPr/>
              <p:nvPr/>
            </p:nvSpPr>
            <p:spPr>
              <a:xfrm flipV="1">
                <a:off x="10163641" y="2389865"/>
                <a:ext cx="0" cy="1276833"/>
              </a:xfrm>
              <a:prstGeom prst="line">
                <a:avLst/>
              </a:prstGeom>
              <a:ln w="47625" cap="flat">
                <a:solidFill>
                  <a:srgbClr val="8D9193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" name="Group 48">
                <a:extLst>
                  <a:ext uri="{FF2B5EF4-FFF2-40B4-BE49-F238E27FC236}">
                    <a16:creationId xmlns:a16="http://schemas.microsoft.com/office/drawing/2014/main" id="{2FB08FCA-3538-A4AD-8006-6AD754E8D902}"/>
                  </a:ext>
                </a:extLst>
              </p:cNvPr>
              <p:cNvGrpSpPr/>
              <p:nvPr/>
            </p:nvGrpSpPr>
            <p:grpSpPr>
              <a:xfrm rot="-10800000">
                <a:off x="9929296" y="3536531"/>
                <a:ext cx="468690" cy="361458"/>
                <a:chOff x="0" y="0"/>
                <a:chExt cx="922188" cy="711200"/>
              </a:xfrm>
            </p:grpSpPr>
            <p:sp>
              <p:nvSpPr>
                <p:cNvPr id="30" name="Freeform 49">
                  <a:extLst>
                    <a:ext uri="{FF2B5EF4-FFF2-40B4-BE49-F238E27FC236}">
                      <a16:creationId xmlns:a16="http://schemas.microsoft.com/office/drawing/2014/main" id="{E531DA4E-6D4D-D461-9146-7B8DD697B477}"/>
                    </a:ext>
                  </a:extLst>
                </p:cNvPr>
                <p:cNvSpPr/>
                <p:nvPr/>
              </p:nvSpPr>
              <p:spPr>
                <a:xfrm>
                  <a:off x="75415" y="89768"/>
                  <a:ext cx="771359" cy="621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359" h="621432">
                      <a:moveTo>
                        <a:pt x="475539" y="48834"/>
                      </a:moveTo>
                      <a:lnTo>
                        <a:pt x="756913" y="482830"/>
                      </a:lnTo>
                      <a:cubicBezTo>
                        <a:pt x="774811" y="510436"/>
                        <a:pt x="776173" y="545621"/>
                        <a:pt x="760464" y="574528"/>
                      </a:cubicBezTo>
                      <a:cubicBezTo>
                        <a:pt x="744754" y="603435"/>
                        <a:pt x="714490" y="621432"/>
                        <a:pt x="681590" y="621432"/>
                      </a:cubicBezTo>
                      <a:lnTo>
                        <a:pt x="89767" y="621432"/>
                      </a:lnTo>
                      <a:cubicBezTo>
                        <a:pt x="56867" y="621432"/>
                        <a:pt x="26604" y="603435"/>
                        <a:pt x="10894" y="574528"/>
                      </a:cubicBezTo>
                      <a:cubicBezTo>
                        <a:pt x="-4815" y="545621"/>
                        <a:pt x="-3453" y="510436"/>
                        <a:pt x="14445" y="482830"/>
                      </a:cubicBezTo>
                      <a:lnTo>
                        <a:pt x="295819" y="48834"/>
                      </a:lnTo>
                      <a:cubicBezTo>
                        <a:pt x="315563" y="18381"/>
                        <a:pt x="349386" y="0"/>
                        <a:pt x="385679" y="0"/>
                      </a:cubicBezTo>
                      <a:cubicBezTo>
                        <a:pt x="421972" y="0"/>
                        <a:pt x="455795" y="18381"/>
                        <a:pt x="475539" y="48834"/>
                      </a:cubicBezTo>
                      <a:close/>
                    </a:path>
                  </a:pathLst>
                </a:custGeom>
                <a:solidFill>
                  <a:srgbClr val="DDA707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TextBox 50">
                  <a:extLst>
                    <a:ext uri="{FF2B5EF4-FFF2-40B4-BE49-F238E27FC236}">
                      <a16:creationId xmlns:a16="http://schemas.microsoft.com/office/drawing/2014/main" id="{CE7EDB0A-BC9B-79CB-24BE-2653F5A7A5F1}"/>
                    </a:ext>
                  </a:extLst>
                </p:cNvPr>
                <p:cNvSpPr txBox="1"/>
                <p:nvPr/>
              </p:nvSpPr>
              <p:spPr>
                <a:xfrm>
                  <a:off x="144092" y="292100"/>
                  <a:ext cx="634004" cy="3683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97FD81C-0149-F0F9-B29B-A63A83016ED6}"/>
                </a:ext>
              </a:extLst>
            </p:cNvPr>
            <p:cNvGrpSpPr/>
            <p:nvPr/>
          </p:nvGrpSpPr>
          <p:grpSpPr>
            <a:xfrm>
              <a:off x="3733137" y="1257300"/>
              <a:ext cx="4725725" cy="1431718"/>
              <a:chOff x="0" y="0"/>
              <a:chExt cx="1491632" cy="536090"/>
            </a:xfrm>
          </p:grpSpPr>
          <p:sp>
            <p:nvSpPr>
              <p:cNvPr id="35" name="Freeform 4">
                <a:extLst>
                  <a:ext uri="{FF2B5EF4-FFF2-40B4-BE49-F238E27FC236}">
                    <a16:creationId xmlns:a16="http://schemas.microsoft.com/office/drawing/2014/main" id="{09479399-83E8-2DB1-55BC-B38C11DDA0E3}"/>
                  </a:ext>
                </a:extLst>
              </p:cNvPr>
              <p:cNvSpPr/>
              <p:nvPr/>
            </p:nvSpPr>
            <p:spPr>
              <a:xfrm>
                <a:off x="0" y="0"/>
                <a:ext cx="1491632" cy="536090"/>
              </a:xfrm>
              <a:custGeom>
                <a:avLst/>
                <a:gdLst/>
                <a:ahLst/>
                <a:cxnLst/>
                <a:rect l="l" t="t" r="r" b="b"/>
                <a:pathLst>
                  <a:path w="1491632" h="536090">
                    <a:moveTo>
                      <a:pt x="49148" y="0"/>
                    </a:moveTo>
                    <a:lnTo>
                      <a:pt x="1442485" y="0"/>
                    </a:lnTo>
                    <a:cubicBezTo>
                      <a:pt x="1455519" y="0"/>
                      <a:pt x="1468020" y="5178"/>
                      <a:pt x="1477237" y="14395"/>
                    </a:cubicBezTo>
                    <a:cubicBezTo>
                      <a:pt x="1486454" y="23612"/>
                      <a:pt x="1491632" y="36113"/>
                      <a:pt x="1491632" y="49148"/>
                    </a:cubicBezTo>
                    <a:lnTo>
                      <a:pt x="1491632" y="486943"/>
                    </a:lnTo>
                    <a:cubicBezTo>
                      <a:pt x="1491632" y="514086"/>
                      <a:pt x="1469628" y="536090"/>
                      <a:pt x="1442485" y="536090"/>
                    </a:cubicBezTo>
                    <a:lnTo>
                      <a:pt x="49148" y="536090"/>
                    </a:lnTo>
                    <a:cubicBezTo>
                      <a:pt x="36113" y="536090"/>
                      <a:pt x="23612" y="530912"/>
                      <a:pt x="14395" y="521695"/>
                    </a:cubicBezTo>
                    <a:cubicBezTo>
                      <a:pt x="5178" y="512478"/>
                      <a:pt x="0" y="499977"/>
                      <a:pt x="0" y="486943"/>
                    </a:cubicBezTo>
                    <a:lnTo>
                      <a:pt x="0" y="49148"/>
                    </a:lnTo>
                    <a:cubicBezTo>
                      <a:pt x="0" y="36113"/>
                      <a:pt x="5178" y="23612"/>
                      <a:pt x="14395" y="14395"/>
                    </a:cubicBezTo>
                    <a:cubicBezTo>
                      <a:pt x="23612" y="5178"/>
                      <a:pt x="36113" y="0"/>
                      <a:pt x="49148" y="0"/>
                    </a:cubicBezTo>
                    <a:close/>
                  </a:path>
                </a:pathLst>
              </a:custGeom>
              <a:solidFill>
                <a:srgbClr val="E6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5DA3D8B-B5DD-7653-F378-8E24EC7A7ED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91632" cy="5741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57C4C512-4ECE-6B9E-EE0A-46CC1EE1C694}"/>
                </a:ext>
              </a:extLst>
            </p:cNvPr>
            <p:cNvSpPr/>
            <p:nvPr/>
          </p:nvSpPr>
          <p:spPr>
            <a:xfrm>
              <a:off x="3378200" y="4272889"/>
              <a:ext cx="2656106" cy="1823111"/>
            </a:xfrm>
            <a:prstGeom prst="roundRect">
              <a:avLst>
                <a:gd name="adj" fmla="val 12163"/>
              </a:avLst>
            </a:prstGeom>
            <a:solidFill>
              <a:srgbClr val="FFBE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12">
              <a:extLst>
                <a:ext uri="{FF2B5EF4-FFF2-40B4-BE49-F238E27FC236}">
                  <a16:creationId xmlns:a16="http://schemas.microsoft.com/office/drawing/2014/main" id="{05D112A7-6BD1-67D3-65D8-FF2E28353C4C}"/>
                </a:ext>
              </a:extLst>
            </p:cNvPr>
            <p:cNvGrpSpPr/>
            <p:nvPr/>
          </p:nvGrpSpPr>
          <p:grpSpPr>
            <a:xfrm>
              <a:off x="4336368" y="3695947"/>
              <a:ext cx="739770" cy="739770"/>
              <a:chOff x="0" y="0"/>
              <a:chExt cx="812800" cy="812800"/>
            </a:xfrm>
          </p:grpSpPr>
          <p:sp>
            <p:nvSpPr>
              <p:cNvPr id="58" name="Freeform 13">
                <a:extLst>
                  <a:ext uri="{FF2B5EF4-FFF2-40B4-BE49-F238E27FC236}">
                    <a16:creationId xmlns:a16="http://schemas.microsoft.com/office/drawing/2014/main" id="{B9857297-281F-4E28-6CA1-D4F6EE50AFA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17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14">
                <a:extLst>
                  <a:ext uri="{FF2B5EF4-FFF2-40B4-BE49-F238E27FC236}">
                    <a16:creationId xmlns:a16="http://schemas.microsoft.com/office/drawing/2014/main" id="{221723EC-4D08-BA6D-10A0-D3745F82D13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71438" tIns="71438" rIns="71438" bIns="71438" rtlCol="0" anchor="ctr"/>
              <a:lstStyle/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  <p:sp>
          <p:nvSpPr>
            <p:cNvPr id="57" name="TextBox 67">
              <a:extLst>
                <a:ext uri="{FF2B5EF4-FFF2-40B4-BE49-F238E27FC236}">
                  <a16:creationId xmlns:a16="http://schemas.microsoft.com/office/drawing/2014/main" id="{0AB801A3-092E-AA3C-1325-8D3A29F9A278}"/>
                </a:ext>
              </a:extLst>
            </p:cNvPr>
            <p:cNvSpPr txBox="1"/>
            <p:nvPr/>
          </p:nvSpPr>
          <p:spPr>
            <a:xfrm>
              <a:off x="3481161" y="4683959"/>
              <a:ext cx="2450184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spcBef>
                  <a:spcPct val="0"/>
                </a:spcBef>
              </a:pPr>
              <a:r>
                <a:rPr lang="en-US" sz="1600" b="1" dirty="0">
                  <a:solidFill>
                    <a:srgbClr val="1C1C1A"/>
                  </a:solidFill>
                  <a:latin typeface="Calibri" panose="020F0502020204030204" pitchFamily="34" charset="0"/>
                  <a:ea typeface="Montserrat Ultra-Bold"/>
                  <a:cs typeface="Calibri" panose="020F0502020204030204" pitchFamily="34" charset="0"/>
                  <a:sym typeface="Montserrat Ultra-Bold"/>
                </a:rPr>
                <a:t>Wearable waistband and real-time alerts</a:t>
              </a:r>
              <a:r>
                <a:rPr lang="en-US" sz="1600" dirty="0">
                  <a:solidFill>
                    <a:srgbClr val="1C1C1A"/>
                  </a:solidFill>
                  <a:latin typeface="Calibri" panose="020F0502020204030204" pitchFamily="34" charset="0"/>
                  <a:ea typeface="Montserrat Ultra-Bold"/>
                  <a:cs typeface="Calibri" panose="020F0502020204030204" pitchFamily="34" charset="0"/>
                  <a:sym typeface="Montserrat Ultra-Bold"/>
                </a:rPr>
                <a:t>:- Comfortable for daily use and emergency alerts for quick response.</a:t>
              </a:r>
            </a:p>
          </p:txBody>
        </p: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AE630B3-5C58-A2B2-DDEF-E3B80293A1D9}"/>
                </a:ext>
              </a:extLst>
            </p:cNvPr>
            <p:cNvGrpSpPr/>
            <p:nvPr/>
          </p:nvGrpSpPr>
          <p:grpSpPr>
            <a:xfrm>
              <a:off x="6299200" y="3695947"/>
              <a:ext cx="2656106" cy="2400053"/>
              <a:chOff x="6299200" y="3695947"/>
              <a:chExt cx="2656106" cy="2400053"/>
            </a:xfrm>
          </p:grpSpPr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DD12D05-AB43-5D57-4A54-2E4382BE7029}"/>
                  </a:ext>
                </a:extLst>
              </p:cNvPr>
              <p:cNvSpPr/>
              <p:nvPr/>
            </p:nvSpPr>
            <p:spPr>
              <a:xfrm>
                <a:off x="6299200" y="4272889"/>
                <a:ext cx="2656106" cy="1823111"/>
              </a:xfrm>
              <a:prstGeom prst="roundRect">
                <a:avLst>
                  <a:gd name="adj" fmla="val 12163"/>
                </a:avLst>
              </a:prstGeom>
              <a:solidFill>
                <a:srgbClr val="B5EB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2" name="Group 12">
                <a:extLst>
                  <a:ext uri="{FF2B5EF4-FFF2-40B4-BE49-F238E27FC236}">
                    <a16:creationId xmlns:a16="http://schemas.microsoft.com/office/drawing/2014/main" id="{CE977FBB-2A3F-EA9D-C403-E269865BF7A0}"/>
                  </a:ext>
                </a:extLst>
              </p:cNvPr>
              <p:cNvGrpSpPr/>
              <p:nvPr/>
            </p:nvGrpSpPr>
            <p:grpSpPr>
              <a:xfrm>
                <a:off x="7257368" y="3695947"/>
                <a:ext cx="739770" cy="739770"/>
                <a:chOff x="0" y="0"/>
                <a:chExt cx="812800" cy="812800"/>
              </a:xfrm>
            </p:grpSpPr>
            <p:sp>
              <p:nvSpPr>
                <p:cNvPr id="256" name="Freeform 13">
                  <a:extLst>
                    <a:ext uri="{FF2B5EF4-FFF2-40B4-BE49-F238E27FC236}">
                      <a16:creationId xmlns:a16="http://schemas.microsoft.com/office/drawing/2014/main" id="{F84E8388-7097-537E-A42F-A19963DD601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45CDD7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TextBox 14">
                  <a:extLst>
                    <a:ext uri="{FF2B5EF4-FFF2-40B4-BE49-F238E27FC236}">
                      <a16:creationId xmlns:a16="http://schemas.microsoft.com/office/drawing/2014/main" id="{A85665AF-1AD7-E2AB-4403-E70EF8731BA2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  <p:sp>
            <p:nvSpPr>
              <p:cNvPr id="63" name="TextBox 67">
                <a:extLst>
                  <a:ext uri="{FF2B5EF4-FFF2-40B4-BE49-F238E27FC236}">
                    <a16:creationId xmlns:a16="http://schemas.microsoft.com/office/drawing/2014/main" id="{8EBC4D73-38E9-30E6-95AB-F83325732C60}"/>
                  </a:ext>
                </a:extLst>
              </p:cNvPr>
              <p:cNvSpPr txBox="1"/>
              <p:nvPr/>
            </p:nvSpPr>
            <p:spPr>
              <a:xfrm>
                <a:off x="6400347" y="4683959"/>
                <a:ext cx="2453813" cy="73866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US" sz="1600" b="1" dirty="0">
                    <a:solidFill>
                      <a:srgbClr val="1C1C1A"/>
                    </a:solidFill>
                    <a:latin typeface="Calibri" panose="020F0502020204030204" pitchFamily="34" charset="0"/>
                    <a:ea typeface="Montserrat Ultra-Bold"/>
                    <a:cs typeface="Calibri" panose="020F0502020204030204" pitchFamily="34" charset="0"/>
                    <a:sym typeface="Montserrat Ultra-Bold"/>
                  </a:rPr>
                  <a:t>Multi-Sensor Integration</a:t>
                </a:r>
                <a:r>
                  <a:rPr lang="en-US" sz="1600" dirty="0">
                    <a:solidFill>
                      <a:srgbClr val="1C1C1A"/>
                    </a:solidFill>
                    <a:latin typeface="Calibri" panose="020F0502020204030204" pitchFamily="34" charset="0"/>
                    <a:ea typeface="Montserrat Ultra-Bold"/>
                    <a:cs typeface="Calibri" panose="020F0502020204030204" pitchFamily="34" charset="0"/>
                    <a:sym typeface="Montserrat Ultra-Bold"/>
                  </a:rPr>
                  <a:t>:- Combines motion and vital sensors for reliable detection</a:t>
                </a:r>
              </a:p>
            </p:txBody>
          </p: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E6D60434-4316-155A-0818-987A000FFBCF}"/>
                </a:ext>
              </a:extLst>
            </p:cNvPr>
            <p:cNvGrpSpPr/>
            <p:nvPr/>
          </p:nvGrpSpPr>
          <p:grpSpPr>
            <a:xfrm>
              <a:off x="9263744" y="3695947"/>
              <a:ext cx="2656106" cy="2400053"/>
              <a:chOff x="9220200" y="3695947"/>
              <a:chExt cx="2656106" cy="2400053"/>
            </a:xfrm>
          </p:grpSpPr>
          <p:sp>
            <p:nvSpPr>
              <p:cNvPr id="259" name="Rectangle: Rounded Corners 258">
                <a:extLst>
                  <a:ext uri="{FF2B5EF4-FFF2-40B4-BE49-F238E27FC236}">
                    <a16:creationId xmlns:a16="http://schemas.microsoft.com/office/drawing/2014/main" id="{3F4BAC24-ED77-36E4-A157-80391A5CA286}"/>
                  </a:ext>
                </a:extLst>
              </p:cNvPr>
              <p:cNvSpPr/>
              <p:nvPr/>
            </p:nvSpPr>
            <p:spPr>
              <a:xfrm>
                <a:off x="9220200" y="4272889"/>
                <a:ext cx="2656106" cy="1823111"/>
              </a:xfrm>
              <a:prstGeom prst="roundRect">
                <a:avLst>
                  <a:gd name="adj" fmla="val 12163"/>
                </a:avLst>
              </a:prstGeom>
              <a:solidFill>
                <a:srgbClr val="FFE8A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60" name="Group 12">
                <a:extLst>
                  <a:ext uri="{FF2B5EF4-FFF2-40B4-BE49-F238E27FC236}">
                    <a16:creationId xmlns:a16="http://schemas.microsoft.com/office/drawing/2014/main" id="{8B4E89B2-223F-C7D1-2EFC-13C6A7C5AE2A}"/>
                  </a:ext>
                </a:extLst>
              </p:cNvPr>
              <p:cNvGrpSpPr/>
              <p:nvPr/>
            </p:nvGrpSpPr>
            <p:grpSpPr>
              <a:xfrm>
                <a:off x="10178368" y="3695947"/>
                <a:ext cx="739770" cy="739770"/>
                <a:chOff x="0" y="0"/>
                <a:chExt cx="812800" cy="812800"/>
              </a:xfrm>
            </p:grpSpPr>
            <p:sp>
              <p:nvSpPr>
                <p:cNvPr id="262" name="Freeform 13">
                  <a:extLst>
                    <a:ext uri="{FF2B5EF4-FFF2-40B4-BE49-F238E27FC236}">
                      <a16:creationId xmlns:a16="http://schemas.microsoft.com/office/drawing/2014/main" id="{1B5301FD-63F9-66AE-EFC4-70A1A5F54CF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2B300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TextBox 14">
                  <a:extLst>
                    <a:ext uri="{FF2B5EF4-FFF2-40B4-BE49-F238E27FC236}">
                      <a16:creationId xmlns:a16="http://schemas.microsoft.com/office/drawing/2014/main" id="{E27C0660-7BF6-4D64-7D02-A5DCC3DBEEBA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71438" tIns="71438" rIns="71438" bIns="71438" rtlCol="0" anchor="ctr"/>
                <a:lstStyle/>
                <a:p>
                  <a:pPr algn="ctr">
                    <a:lnSpc>
                      <a:spcPts val="2756"/>
                    </a:lnSpc>
                  </a:pPr>
                  <a:endParaRPr/>
                </a:p>
              </p:txBody>
            </p:sp>
          </p:grpSp>
          <p:sp>
            <p:nvSpPr>
              <p:cNvPr id="261" name="TextBox 67">
                <a:extLst>
                  <a:ext uri="{FF2B5EF4-FFF2-40B4-BE49-F238E27FC236}">
                    <a16:creationId xmlns:a16="http://schemas.microsoft.com/office/drawing/2014/main" id="{91ACEE76-CC5B-17B2-5C4C-3568837A70AE}"/>
                  </a:ext>
                </a:extLst>
              </p:cNvPr>
              <p:cNvSpPr txBox="1"/>
              <p:nvPr/>
            </p:nvSpPr>
            <p:spPr>
              <a:xfrm>
                <a:off x="9345382" y="4683959"/>
                <a:ext cx="2405743" cy="123110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spcBef>
                    <a:spcPct val="0"/>
                  </a:spcBef>
                </a:pPr>
                <a:r>
                  <a:rPr lang="en-IN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Built-in Medicine Reminder</a:t>
                </a:r>
                <a:r>
                  <a:rPr lang="en-IN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:- 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Ensures timely medication along with safety monitoring in a single device.</a:t>
                </a:r>
                <a:endParaRPr lang="en-US" sz="1600" dirty="0">
                  <a:solidFill>
                    <a:srgbClr val="1C1C1A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Montserrat Ultra-Bold"/>
                </a:endParaRPr>
              </a:p>
            </p:txBody>
          </p:sp>
        </p:grp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811D45E9-C7B4-655D-8AA7-5D019C706921}"/>
                </a:ext>
              </a:extLst>
            </p:cNvPr>
            <p:cNvSpPr txBox="1"/>
            <p:nvPr/>
          </p:nvSpPr>
          <p:spPr>
            <a:xfrm>
              <a:off x="1611085" y="3842658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484C45E9-5698-B4DF-F0E9-EEE2382548E0}"/>
                </a:ext>
              </a:extLst>
            </p:cNvPr>
            <p:cNvSpPr txBox="1"/>
            <p:nvPr/>
          </p:nvSpPr>
          <p:spPr>
            <a:xfrm>
              <a:off x="4528457" y="3864429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948D7C18-0C84-065B-11A8-4AD7B0D132B3}"/>
                </a:ext>
              </a:extLst>
            </p:cNvPr>
            <p:cNvSpPr txBox="1"/>
            <p:nvPr/>
          </p:nvSpPr>
          <p:spPr>
            <a:xfrm>
              <a:off x="7500257" y="3831772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3BB405DF-0F85-5D98-7321-8788D591BE04}"/>
                </a:ext>
              </a:extLst>
            </p:cNvPr>
            <p:cNvSpPr txBox="1"/>
            <p:nvPr/>
          </p:nvSpPr>
          <p:spPr>
            <a:xfrm>
              <a:off x="10439399" y="3842658"/>
              <a:ext cx="348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71" name="Title 1">
              <a:extLst>
                <a:ext uri="{FF2B5EF4-FFF2-40B4-BE49-F238E27FC236}">
                  <a16:creationId xmlns:a16="http://schemas.microsoft.com/office/drawing/2014/main" id="{3AD084F1-FF05-8B2E-C4EB-73C914FCF854}"/>
                </a:ext>
              </a:extLst>
            </p:cNvPr>
            <p:cNvSpPr txBox="1">
              <a:spLocks/>
            </p:cNvSpPr>
            <p:nvPr/>
          </p:nvSpPr>
          <p:spPr>
            <a:xfrm>
              <a:off x="4005942" y="1638302"/>
              <a:ext cx="4180114" cy="46166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sz="3000" b="1">
                  <a:solidFill>
                    <a:schemeClr val="bg1"/>
                  </a:solidFill>
                  <a:latin typeface="Vodafone Rg" panose="020B0606080202020204" pitchFamily="34" charset="0"/>
                </a:rPr>
                <a:t>Novelty and Uniqueness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5342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BC41-7A97-431A-4BB9-3A57BC031021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Git Hub 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E604B-12D5-ACDE-2B60-132E7E5044CE}"/>
              </a:ext>
            </a:extLst>
          </p:cNvPr>
          <p:cNvSpPr txBox="1"/>
          <p:nvPr/>
        </p:nvSpPr>
        <p:spPr>
          <a:xfrm>
            <a:off x="359227" y="1514995"/>
            <a:ext cx="985157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>
                <a:latin typeface="Calibri"/>
                <a:cs typeface="Calibri"/>
              </a:rPr>
              <a:t>Please test and Paste the working  GitHub URL – </a:t>
            </a:r>
            <a:r>
              <a:rPr lang="en-US" sz="1600" dirty="0">
                <a:latin typeface="Calibri"/>
                <a:cs typeface="Calibri"/>
                <a:hlinkClick r:id="rId3"/>
              </a:rPr>
              <a:t>https://github.com/Pujagithub2006/VOIS-and-Team-89</a:t>
            </a:r>
            <a:r>
              <a:rPr lang="en-US" sz="1600" dirty="0">
                <a:latin typeface="Calibri"/>
                <a:cs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D050-BEFF-4AF9-79A5-9F5496DE1969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Future Scope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3BE2AF-617C-D092-0FE1-5D0AEDFB454D}"/>
              </a:ext>
            </a:extLst>
          </p:cNvPr>
          <p:cNvSpPr txBox="1"/>
          <p:nvPr/>
        </p:nvSpPr>
        <p:spPr>
          <a:xfrm>
            <a:off x="718875" y="1524568"/>
            <a:ext cx="84152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Advanced Health Sensors: Add improved physiological sensors for early detection.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Better AI models: Train with larger real-world data for higher accuracy.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Emergency System Integration: Connect with emergency services for faster response.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2166F986-3C94-C86A-E81E-498FB58B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5A38-60B6-4F88-EEC5-02B5D33CB8F2}"/>
              </a:ext>
            </a:extLst>
          </p:cNvPr>
          <p:cNvSpPr txBox="1">
            <a:spLocks/>
          </p:cNvSpPr>
          <p:nvPr/>
        </p:nvSpPr>
        <p:spPr>
          <a:xfrm>
            <a:off x="446315" y="582388"/>
            <a:ext cx="801188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000" b="1">
                <a:solidFill>
                  <a:srgbClr val="A20000"/>
                </a:solidFill>
                <a:latin typeface="Vodafone Rg" panose="020B0606080202020204" pitchFamily="34" charset="0"/>
              </a:rPr>
              <a:t>Bank Details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0FD0F6-17FE-ABF1-7D8E-4A204CDDE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614394"/>
              </p:ext>
            </p:extLst>
          </p:nvPr>
        </p:nvGraphicFramePr>
        <p:xfrm>
          <a:off x="481057" y="980851"/>
          <a:ext cx="11264628" cy="2108200"/>
        </p:xfrm>
        <a:graphic>
          <a:graphicData uri="http://schemas.openxmlformats.org/drawingml/2006/table">
            <a:tbl>
              <a:tblPr firstRow="1" bandRow="1">
                <a:tableStyleId>{0AAD8F4D-43EB-41E5-8A38-28AB6DFB1B60}</a:tableStyleId>
              </a:tblPr>
              <a:tblGrid>
                <a:gridCol w="1877438">
                  <a:extLst>
                    <a:ext uri="{9D8B030D-6E8A-4147-A177-3AD203B41FA5}">
                      <a16:colId xmlns:a16="http://schemas.microsoft.com/office/drawing/2014/main" val="276395733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68367769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3364172202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3594999873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3962065889"/>
                    </a:ext>
                  </a:extLst>
                </a:gridCol>
                <a:gridCol w="1877438">
                  <a:extLst>
                    <a:ext uri="{9D8B030D-6E8A-4147-A177-3AD203B41FA5}">
                      <a16:colId xmlns:a16="http://schemas.microsoft.com/office/drawing/2014/main" val="1446855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 Name (as per bank records):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Bank Name</a:t>
                      </a:r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Branch Name</a:t>
                      </a:r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Account Number</a:t>
                      </a:r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Account Type (Savings / Current)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IFSC Code</a:t>
                      </a:r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502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Puja Santosh Nikam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Canara Bank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Wagholi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110181898601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Savings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CNRB0000181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84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Tanvi Balasaheb Nanaware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Bank Of India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Anand Dham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066610510001949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Savings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BKID0000666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54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Vaishnavi Sanjay Narkhede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Bank Of India</a:t>
                      </a:r>
                    </a:p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Nandura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924510510003621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Savings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BKID0009245</a:t>
                      </a:r>
                    </a:p>
                  </a:txBody>
                  <a:tcPr>
                    <a:lnL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317222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DC4C51AD-861B-F0A7-9A34-F890EFD7A498}"/>
              </a:ext>
            </a:extLst>
          </p:cNvPr>
          <p:cNvGrpSpPr/>
          <p:nvPr/>
        </p:nvGrpSpPr>
        <p:grpSpPr>
          <a:xfrm>
            <a:off x="431613" y="3174743"/>
            <a:ext cx="11290214" cy="3481696"/>
            <a:chOff x="593389" y="3418267"/>
            <a:chExt cx="11128438" cy="298687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01B849-0B51-4A54-09A7-A7F17BA2BA49}"/>
                </a:ext>
              </a:extLst>
            </p:cNvPr>
            <p:cNvGrpSpPr/>
            <p:nvPr/>
          </p:nvGrpSpPr>
          <p:grpSpPr>
            <a:xfrm>
              <a:off x="593389" y="5804978"/>
              <a:ext cx="11030060" cy="600164"/>
              <a:chOff x="593389" y="5804978"/>
              <a:chExt cx="11030060" cy="60016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788107-B3A1-7F7D-432E-A4048656C530}"/>
                  </a:ext>
                </a:extLst>
              </p:cNvPr>
              <p:cNvSpPr txBox="1"/>
              <p:nvPr/>
            </p:nvSpPr>
            <p:spPr>
              <a:xfrm>
                <a:off x="593389" y="5804978"/>
                <a:ext cx="3127663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/>
                  <a:t>Team Member 1</a:t>
                </a:r>
                <a:br>
                  <a:rPr lang="en-US" sz="1100" b="1" dirty="0"/>
                </a:br>
                <a:r>
                  <a:rPr lang="en-US" sz="1100" dirty="0"/>
                  <a:t>Passbook/ Bank Statement With Name and Account Number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AA0C9B-B378-AB3E-52B3-2DF338D8B0B5}"/>
                  </a:ext>
                </a:extLst>
              </p:cNvPr>
              <p:cNvSpPr txBox="1"/>
              <p:nvPr/>
            </p:nvSpPr>
            <p:spPr>
              <a:xfrm>
                <a:off x="4544588" y="5804978"/>
                <a:ext cx="3127663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/>
                  <a:t>Team Member 2</a:t>
                </a:r>
                <a:br>
                  <a:rPr lang="en-US" sz="1100" b="1"/>
                </a:br>
                <a:r>
                  <a:rPr lang="en-US" sz="1100"/>
                  <a:t>Passbook/ Bank Statement With Name and Account Number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FBE0B7-6FC9-AEAD-9981-E33461699CF8}"/>
                  </a:ext>
                </a:extLst>
              </p:cNvPr>
              <p:cNvSpPr txBox="1"/>
              <p:nvPr/>
            </p:nvSpPr>
            <p:spPr>
              <a:xfrm>
                <a:off x="8495786" y="5804978"/>
                <a:ext cx="3127663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/>
                  <a:t>Team Member 3</a:t>
                </a:r>
                <a:br>
                  <a:rPr lang="en-US" sz="1100" b="1"/>
                </a:br>
                <a:r>
                  <a:rPr lang="en-US" sz="1100"/>
                  <a:t>Passbook/ Bank Statement With Name and Account Number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60E05AD-BA99-94A1-3C7A-15C10A72B22C}"/>
                </a:ext>
              </a:extLst>
            </p:cNvPr>
            <p:cNvGrpSpPr/>
            <p:nvPr/>
          </p:nvGrpSpPr>
          <p:grpSpPr>
            <a:xfrm>
              <a:off x="593389" y="3418267"/>
              <a:ext cx="11128438" cy="2218218"/>
              <a:chOff x="593389" y="3418267"/>
              <a:chExt cx="11128438" cy="2218218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7F93F3D-FC83-53FE-2AEE-9566DD5242D6}"/>
                  </a:ext>
                </a:extLst>
              </p:cNvPr>
              <p:cNvSpPr/>
              <p:nvPr/>
            </p:nvSpPr>
            <p:spPr>
              <a:xfrm>
                <a:off x="593389" y="3429000"/>
                <a:ext cx="3400641" cy="2196753"/>
              </a:xfrm>
              <a:prstGeom prst="roundRect">
                <a:avLst>
                  <a:gd name="adj" fmla="val 8078"/>
                </a:avLst>
              </a:prstGeom>
              <a:solidFill>
                <a:schemeClr val="bg1"/>
              </a:solidFill>
              <a:ln>
                <a:solidFill>
                  <a:srgbClr val="E6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430A3EE3-5A8A-BFF9-D978-247718EB408E}"/>
                  </a:ext>
                </a:extLst>
              </p:cNvPr>
              <p:cNvSpPr/>
              <p:nvPr/>
            </p:nvSpPr>
            <p:spPr>
              <a:xfrm>
                <a:off x="4317445" y="3429000"/>
                <a:ext cx="3354806" cy="2207485"/>
              </a:xfrm>
              <a:prstGeom prst="roundRect">
                <a:avLst>
                  <a:gd name="adj" fmla="val 8078"/>
                </a:avLst>
              </a:prstGeom>
              <a:solidFill>
                <a:schemeClr val="bg1"/>
              </a:solidFill>
              <a:ln>
                <a:solidFill>
                  <a:srgbClr val="E6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A77687DA-23EE-879D-DD4F-FCD610ADC41A}"/>
                  </a:ext>
                </a:extLst>
              </p:cNvPr>
              <p:cNvSpPr/>
              <p:nvPr/>
            </p:nvSpPr>
            <p:spPr>
              <a:xfrm>
                <a:off x="7969394" y="3418267"/>
                <a:ext cx="3752433" cy="2196753"/>
              </a:xfrm>
              <a:prstGeom prst="roundRect">
                <a:avLst>
                  <a:gd name="adj" fmla="val 8078"/>
                </a:avLst>
              </a:prstGeom>
              <a:solidFill>
                <a:schemeClr val="bg1"/>
              </a:solidFill>
              <a:ln>
                <a:solidFill>
                  <a:srgbClr val="E6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9475123-348B-09F4-6C80-99FD2584D366}"/>
              </a:ext>
            </a:extLst>
          </p:cNvPr>
          <p:cNvSpPr txBox="1"/>
          <p:nvPr/>
        </p:nvSpPr>
        <p:spPr>
          <a:xfrm>
            <a:off x="9216804" y="4007627"/>
            <a:ext cx="16045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photo of passbook / bank statement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02CA9F2-8854-258D-6D56-4C1743FB40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6" r="3851" b="9762"/>
          <a:stretch>
            <a:fillRect/>
          </a:stretch>
        </p:blipFill>
        <p:spPr>
          <a:xfrm>
            <a:off x="7927846" y="3514099"/>
            <a:ext cx="3832541" cy="18911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C8C424A-5557-FF19-4DDD-92165DC75D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77"/>
          <a:stretch>
            <a:fillRect/>
          </a:stretch>
        </p:blipFill>
        <p:spPr>
          <a:xfrm>
            <a:off x="658924" y="3174743"/>
            <a:ext cx="3064055" cy="25573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ECD60D2-52D6-336F-664B-FF36829234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35462" y="3629483"/>
            <a:ext cx="3436790" cy="173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AF80-7103-487F-A54B-15BEEE256378}"/>
              </a:ext>
            </a:extLst>
          </p:cNvPr>
          <p:cNvSpPr txBox="1">
            <a:spLocks/>
          </p:cNvSpPr>
          <p:nvPr/>
        </p:nvSpPr>
        <p:spPr>
          <a:xfrm>
            <a:off x="3952195" y="3044279"/>
            <a:ext cx="4287610" cy="769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>
                <a:solidFill>
                  <a:srgbClr val="A20000"/>
                </a:solidFill>
                <a:latin typeface="Vodafone Rg" panose="020B0606080202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ntent Body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ontent Body Part_Inter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808</Words>
  <Application>Microsoft Office PowerPoint</Application>
  <PresentationFormat>Widescreen</PresentationFormat>
  <Paragraphs>130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Arial</vt:lpstr>
      <vt:lpstr>Calibri</vt:lpstr>
      <vt:lpstr>Times New Roman</vt:lpstr>
      <vt:lpstr>Vodafone Rg</vt:lpstr>
      <vt:lpstr>Wingdings</vt:lpstr>
      <vt:lpstr>Blank</vt:lpstr>
      <vt:lpstr>Content Body Slide</vt:lpstr>
      <vt:lpstr>Content Body Part_Internal</vt:lpstr>
      <vt:lpstr>PowerPoint Presentation</vt:lpstr>
      <vt:lpstr>Project Title:- SilverCare: Proactive AI platform for Elderly Assistance, Health Monitoring &amp; Caregiver Support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Tanvi N</cp:lastModifiedBy>
  <cp:revision>6</cp:revision>
  <dcterms:created xsi:type="dcterms:W3CDTF">2025-07-08T05:06:56Z</dcterms:created>
  <dcterms:modified xsi:type="dcterms:W3CDTF">2026-02-10T09:12:36Z</dcterms:modified>
</cp:coreProperties>
</file>